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88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v1.0 (0618)" id="{BABD1981-19FB-45A0-9DBF-6748825E1C71}">
          <p14:sldIdLst>
            <p14:sldId id="288"/>
          </p14:sldIdLst>
        </p14:section>
        <p14:section name="Spec" id="{29F6F174-E043-4F06-AF75-3C3BC8E8C2DB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00"/>
    <a:srgbClr val="FFE9E7"/>
    <a:srgbClr val="FFCEC9"/>
    <a:srgbClr val="0000FF"/>
    <a:srgbClr val="0066FF"/>
    <a:srgbClr val="FFCC66"/>
    <a:srgbClr val="66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9" autoAdjust="0"/>
    <p:restoredTop sz="97416" autoAdjust="0"/>
  </p:normalViewPr>
  <p:slideViewPr>
    <p:cSldViewPr snapToGrid="0" showGuides="1">
      <p:cViewPr varScale="1">
        <p:scale>
          <a:sx n="75" d="100"/>
          <a:sy n="75" d="100"/>
        </p:scale>
        <p:origin x="902" y="187"/>
      </p:cViewPr>
      <p:guideLst>
        <p:guide orient="horz" pos="213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804E1B-0557-4703-A67B-1143BACAD82E}" type="datetimeFigureOut">
              <a:rPr lang="ko-KR" altLang="en-US" smtClean="0"/>
              <a:t>2026-07-26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93D618-868F-4C2E-8BDC-4E3A47E1DB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42611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AF3102-0F63-5E6C-5BC6-C6917B80BF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488620C-C615-612D-E0FB-7E79769168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C56F30E-D853-9215-C893-5060A56ADB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dirty="0"/>
              <a:t>B/C Gap </a:t>
            </a:r>
            <a:r>
              <a:rPr lang="ko-KR" altLang="en-US" dirty="0"/>
              <a:t>프로모션 운영 시 </a:t>
            </a:r>
            <a:r>
              <a:rPr lang="en-US" altLang="ko-KR" dirty="0"/>
              <a:t>200</a:t>
            </a:r>
            <a:r>
              <a:rPr lang="ko-KR" altLang="en-US" dirty="0"/>
              <a:t>불 이하</a:t>
            </a:r>
            <a:br>
              <a:rPr lang="en-US" altLang="ko-KR" dirty="0"/>
            </a:br>
            <a:r>
              <a:rPr lang="en-US" altLang="ko-KR" dirty="0"/>
              <a:t>  (65” </a:t>
            </a:r>
            <a:r>
              <a:rPr lang="ko-KR" altLang="en-US" dirty="0"/>
              <a:t>기준 재료비 현황</a:t>
            </a:r>
            <a:r>
              <a:rPr lang="en-US" altLang="ko-KR" dirty="0"/>
              <a:t>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r>
              <a:rPr lang="en-US" altLang="ko-KR" dirty="0"/>
              <a:t>#</a:t>
            </a:r>
            <a:r>
              <a:rPr lang="ko-KR" altLang="en-US" dirty="0"/>
              <a:t>사업부장님 코멘트</a:t>
            </a:r>
            <a:endParaRPr lang="en-US" altLang="ko-KR" dirty="0"/>
          </a:p>
          <a:p>
            <a:r>
              <a:rPr lang="en-US" altLang="ko-KR" dirty="0"/>
              <a:t>C6</a:t>
            </a:r>
            <a:r>
              <a:rPr lang="ko-KR" altLang="en-US" dirty="0"/>
              <a:t> </a:t>
            </a:r>
            <a:r>
              <a:rPr lang="en-US" altLang="ko-KR" dirty="0"/>
              <a:t>/</a:t>
            </a:r>
            <a:r>
              <a:rPr lang="ko-KR" altLang="en-US" dirty="0"/>
              <a:t> </a:t>
            </a:r>
            <a:r>
              <a:rPr lang="en-US" altLang="ko-KR" dirty="0"/>
              <a:t>B6</a:t>
            </a:r>
            <a:r>
              <a:rPr lang="ko-KR" altLang="en-US" dirty="0"/>
              <a:t> 포지셔닝 </a:t>
            </a:r>
            <a:r>
              <a:rPr lang="en-US" altLang="ko-KR" dirty="0"/>
              <a:t>RRP $300 </a:t>
            </a:r>
            <a:r>
              <a:rPr lang="ko-KR" altLang="en-US" dirty="0"/>
              <a:t>하더라도 프로모션 시 </a:t>
            </a:r>
            <a:r>
              <a:rPr lang="en-US" altLang="ko-KR" dirty="0"/>
              <a:t>$200 </a:t>
            </a:r>
            <a:r>
              <a:rPr lang="ko-KR" altLang="en-US" dirty="0"/>
              <a:t>내로 </a:t>
            </a:r>
            <a:r>
              <a:rPr lang="en-US" altLang="ko-KR" dirty="0"/>
              <a:t>Gap </a:t>
            </a:r>
            <a:r>
              <a:rPr lang="ko-KR" altLang="en-US" dirty="0"/>
              <a:t>축소 </a:t>
            </a:r>
            <a:r>
              <a:rPr lang="en-US" altLang="ko-KR" dirty="0"/>
              <a:t>(B </a:t>
            </a:r>
            <a:r>
              <a:rPr lang="ko-KR" altLang="en-US" dirty="0"/>
              <a:t>추가하락 방지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B6 / B6E $100 Gap</a:t>
            </a:r>
          </a:p>
          <a:p>
            <a:endParaRPr lang="en-US" altLang="ko-KR" dirty="0"/>
          </a:p>
          <a:p>
            <a:r>
              <a:rPr lang="en-US" altLang="ko-KR" dirty="0"/>
              <a:t>MRGB85 $300 / $200 vs QNED85 </a:t>
            </a:r>
            <a:r>
              <a:rPr lang="ko-KR" altLang="en-US" dirty="0"/>
              <a:t>가이드</a:t>
            </a:r>
            <a:r>
              <a:rPr lang="en-US" altLang="ko-KR" dirty="0"/>
              <a:t>. </a:t>
            </a:r>
            <a:r>
              <a:rPr lang="ko-KR" altLang="en-US" dirty="0"/>
              <a:t>가짜로 소문나서 문제가 될 경우 </a:t>
            </a:r>
            <a:r>
              <a:rPr lang="en-US" altLang="ko-KR" dirty="0"/>
              <a:t>$100</a:t>
            </a:r>
            <a:r>
              <a:rPr lang="ko-KR" altLang="en-US" dirty="0"/>
              <a:t>까지 </a:t>
            </a:r>
            <a:r>
              <a:rPr lang="ko-KR" altLang="en-US" dirty="0" err="1"/>
              <a:t>붙여야할</a:t>
            </a:r>
            <a:r>
              <a:rPr lang="ko-KR" altLang="en-US" dirty="0"/>
              <a:t> 수도 있음</a:t>
            </a:r>
            <a:r>
              <a:rPr lang="en-US" altLang="ko-KR" dirty="0"/>
              <a:t>. </a:t>
            </a:r>
            <a:r>
              <a:rPr lang="ko-KR" altLang="en-US" dirty="0"/>
              <a:t>법인에 따라서 상황을 보면서 움직여야 할 것임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ATA Free</a:t>
            </a:r>
            <a:r>
              <a:rPr lang="ko-KR" altLang="en-US" dirty="0"/>
              <a:t>로 놓고</a:t>
            </a:r>
            <a:r>
              <a:rPr lang="en-US" altLang="ko-KR" dirty="0"/>
              <a:t>, QNED85 </a:t>
            </a:r>
            <a:r>
              <a:rPr lang="ko-KR" altLang="en-US" dirty="0"/>
              <a:t>대비 </a:t>
            </a:r>
            <a:r>
              <a:rPr lang="en-US" altLang="ko-KR" dirty="0"/>
              <a:t>hierarchy </a:t>
            </a:r>
            <a:r>
              <a:rPr lang="ko-KR" altLang="en-US" dirty="0"/>
              <a:t>로 가이드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QN70H vs QNED85 ATA 115~120?</a:t>
            </a:r>
          </a:p>
          <a:p>
            <a:r>
              <a:rPr lang="en-US" altLang="ko-KR" dirty="0"/>
              <a:t>QN80H vs QNED85 </a:t>
            </a:r>
            <a:r>
              <a:rPr lang="ko-KR" altLang="en-US" dirty="0"/>
              <a:t>동일</a:t>
            </a:r>
            <a:r>
              <a:rPr lang="en-US" altLang="ko-KR" dirty="0"/>
              <a:t>, QNED90 </a:t>
            </a:r>
            <a:r>
              <a:rPr lang="ko-KR" altLang="en-US" dirty="0"/>
              <a:t>포지셔닝 관련 상기와 고민 같이 해야함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en-US" altLang="ko-KR" dirty="0"/>
              <a:t>QNED80</a:t>
            </a:r>
            <a:r>
              <a:rPr lang="ko-KR" altLang="en-US" dirty="0"/>
              <a:t> </a:t>
            </a:r>
            <a:r>
              <a:rPr lang="en-US" altLang="ko-KR" dirty="0"/>
              <a:t>vs</a:t>
            </a:r>
            <a:r>
              <a:rPr lang="ko-KR" altLang="en-US" dirty="0"/>
              <a:t> </a:t>
            </a:r>
            <a:r>
              <a:rPr lang="en-US" altLang="ko-KR" dirty="0"/>
              <a:t>QNED70</a:t>
            </a:r>
            <a:r>
              <a:rPr lang="ko-KR" altLang="en-US" dirty="0"/>
              <a:t> </a:t>
            </a:r>
            <a:r>
              <a:rPr lang="en-US" altLang="ko-KR" dirty="0"/>
              <a:t>premium</a:t>
            </a:r>
            <a:r>
              <a:rPr lang="ko-KR" altLang="en-US" dirty="0"/>
              <a:t> 얼마인지도 같이 보자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b="1" u="sng" dirty="0"/>
              <a:t>* MRGB85 / QNED90 / QNED85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4185FB0-602B-C317-B508-25673E72E0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93D618-868F-4C2E-8BDC-4E3A47E1DB45}" type="slidenum">
              <a:rPr lang="ko-KR" altLang="en-US" smtClean="0"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006059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473866-44DD-CB51-DA20-3D57881D21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C3F5606-A526-3764-EBA9-4806343826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A6B1E27-F979-6B73-3B3B-A56228C6B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58172-F093-40E0-BA73-7E6F55FF3D34}" type="datetimeFigureOut">
              <a:rPr lang="ko-KR" altLang="en-US" smtClean="0"/>
              <a:t>2026-07-26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ECE9C20-DB77-E46C-64DD-010536661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2CDBF60-9D40-874F-D08C-D62300811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97B94-ECB1-4DF6-8B60-6D6A820F7F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53253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2A3B14-38F2-D9D8-8E26-79F3D2717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4BB3F24-2266-E5F4-E9FE-EC3C460621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772A11F-9F58-9151-4745-4EDB2BB89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58172-F093-40E0-BA73-7E6F55FF3D34}" type="datetimeFigureOut">
              <a:rPr lang="ko-KR" altLang="en-US" smtClean="0"/>
              <a:t>2026-07-26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1203A39-05FE-E812-7D68-591128852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5866EFF-C5CE-8B7D-C38F-90B0D0757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97B94-ECB1-4DF6-8B60-6D6A820F7F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78760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213D5D-01C1-8AD7-12A8-F7143F849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8A995BA-A35C-D7C8-0C72-CD52E3EA49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AAB3F84-9780-2CCC-A90B-93009A5F81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58172-F093-40E0-BA73-7E6F55FF3D34}" type="datetimeFigureOut">
              <a:rPr lang="ko-KR" altLang="en-US" smtClean="0"/>
              <a:t>2026-07-26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7986FBC-B081-C9C2-4C56-829C4ADBB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51319B6-9303-258B-F6E6-B48742A45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97B94-ECB1-4DF6-8B60-6D6A820F7F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10032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D5C35F-B442-937A-531B-F578A1C9F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AC6E049-B61B-20C6-0B7B-A6BEFA09DD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3A85923-8FA0-780E-7AD2-25C18755C8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F453049-5E1B-DD7C-6D0B-2EF3FC2633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58172-F093-40E0-BA73-7E6F55FF3D34}" type="datetimeFigureOut">
              <a:rPr lang="ko-KR" altLang="en-US" smtClean="0"/>
              <a:t>2026-07-26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AD45DFE-4CD0-35E4-F744-5C05A52D7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25BD6D7-1C4F-41CD-BC05-D26A03D92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97B94-ECB1-4DF6-8B60-6D6A820F7F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3511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FB8693-B592-0809-1130-6CEC0761F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C35D440-AD77-564C-5086-7BB84D8C0E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92A47FE-BCB7-D989-B905-4C657D70D5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133A9B0-8125-E233-0E47-3F8FEE6793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02F2E39-C2FC-CE9B-93B0-C8E3B49EF9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3635A6F-2768-0EC4-F50C-B2D1D0300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58172-F093-40E0-BA73-7E6F55FF3D34}" type="datetimeFigureOut">
              <a:rPr lang="ko-KR" altLang="en-US" smtClean="0"/>
              <a:t>2026-07-26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8E2B7E4-6349-3BFF-E770-53A273B58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4E29A2E-31F7-B503-0B1E-45F6F95B2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97B94-ECB1-4DF6-8B60-6D6A820F7F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68301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9D83F8-0F23-7C51-FE70-96A36FC7F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D57A877-2353-E622-A253-D9AF9EA9C6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58172-F093-40E0-BA73-7E6F55FF3D34}" type="datetimeFigureOut">
              <a:rPr lang="ko-KR" altLang="en-US" smtClean="0"/>
              <a:t>2026-07-26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D36948D-7604-F1C5-214E-D491D6156B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E775A9D-2DBF-E855-6C8E-9BFF70F11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97B94-ECB1-4DF6-8B60-6D6A820F7F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3010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BA35C8A-B00D-9362-DC18-2E436D689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58172-F093-40E0-BA73-7E6F55FF3D34}" type="datetimeFigureOut">
              <a:rPr lang="ko-KR" altLang="en-US" smtClean="0"/>
              <a:t>2026-07-26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CBAACE4-3B4D-90CB-6E67-C0CBA30B0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9E1A9F4-7A4A-C3FF-66C7-A99F9BDF6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97B94-ECB1-4DF6-8B60-6D6A820F7F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4937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33A18F-826A-0F31-042F-8DA5421808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7382FE4-40CB-3C5A-4484-CEE63ACBF1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9E86CD8-BCE4-44F7-8CFE-DB99FAEA9A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840BB33-4AC9-F0CE-2BEA-15A8B23768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58172-F093-40E0-BA73-7E6F55FF3D34}" type="datetimeFigureOut">
              <a:rPr lang="ko-KR" altLang="en-US" smtClean="0"/>
              <a:t>2026-07-26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C75951E-EA4F-38C3-6E2F-CFFD1F3CE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4523689-082D-225E-1D04-74EEB88EF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97B94-ECB1-4DF6-8B60-6D6A820F7F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10713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B4CD8E-CA9C-F357-8322-D519FA00E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F385B49-0772-DC14-5ABA-988B74906E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F3F2AA7-01C4-5F43-081E-6A0F08B00A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CB0A2FC-DD22-6FA9-8867-1FFFA0788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58172-F093-40E0-BA73-7E6F55FF3D34}" type="datetimeFigureOut">
              <a:rPr lang="ko-KR" altLang="en-US" smtClean="0"/>
              <a:t>2026-07-26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6D52F30-C126-4C46-31E6-96399A512E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98E2492-C1CD-436E-BC0E-44F8806D9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97B94-ECB1-4DF6-8B60-6D6A820F7F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9393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749835-B2EB-D1EE-15CF-12DE7CE98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6EE6F59-D46D-7E22-3B76-1782E8CDE4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1DF822C-908A-C08C-F3A7-651B74C865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58172-F093-40E0-BA73-7E6F55FF3D34}" type="datetimeFigureOut">
              <a:rPr lang="ko-KR" altLang="en-US" smtClean="0"/>
              <a:t>2026-07-26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8F4740D-B150-E9C3-85EF-857C931AB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27E5DCB-0AD5-A619-AABF-6E351FE4B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97B94-ECB1-4DF6-8B60-6D6A820F7F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05893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1B45574-8E64-97B8-F55A-C6F51C2BD9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D97BA16-BEA3-EA10-CD34-DBCF6DBA95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9EB0A1-9613-8830-72AB-CE27D38A3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58172-F093-40E0-BA73-7E6F55FF3D34}" type="datetimeFigureOut">
              <a:rPr lang="ko-KR" altLang="en-US" smtClean="0"/>
              <a:t>2026-07-26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E333330-A8ED-0672-EC28-7C579D8D9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F097531-29B6-27E4-FC50-29265BA79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97B94-ECB1-4DF6-8B60-6D6A820F7F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59371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B8D545F-189B-D437-B3F0-06A1041B25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4D80E25-86FC-1D91-9435-5269A76914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C1AB482-4A1B-3A41-0C6E-EBBBDB51C3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558172-F093-40E0-BA73-7E6F55FF3D34}" type="datetimeFigureOut">
              <a:rPr lang="ko-KR" altLang="en-US" smtClean="0"/>
              <a:t>2026-07-26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152660B-48DD-661E-B6C2-DEBD3556C1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4C0DE2F-3367-C633-E7C8-283C99E9F2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597B94-ECB1-4DF6-8B60-6D6A820F7FD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9137EF-C6EE-2983-ED4C-C3119CD0392A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424488" y="63500"/>
            <a:ext cx="1377950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ko-KR" altLang="en-US" sz="1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LGE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25856860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image" Target="../media/image3.png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image" Target="../media/image2.jpe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image" Target="../media/image1.jpeg"/><Relationship Id="rId5" Type="http://schemas.openxmlformats.org/officeDocument/2006/relationships/tags" Target="../tags/tag5.xml"/><Relationship Id="rId10" Type="http://schemas.openxmlformats.org/officeDocument/2006/relationships/notesSlide" Target="../notesSlides/notesSlide1.xml"/><Relationship Id="rId4" Type="http://schemas.openxmlformats.org/officeDocument/2006/relationships/tags" Target="../tags/tag4.xml"/><Relationship Id="rId9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D78E7D-7AA1-4D23-690D-698D0C708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7ED0636C-FB34-C947-CE3F-BCC625A796D9}"/>
              </a:ext>
            </a:extLst>
          </p:cNvPr>
          <p:cNvSpPr/>
          <p:nvPr/>
        </p:nvSpPr>
        <p:spPr>
          <a:xfrm>
            <a:off x="7855131" y="2468012"/>
            <a:ext cx="1785680" cy="1021642"/>
          </a:xfrm>
          <a:prstGeom prst="rect">
            <a:avLst/>
          </a:prstGeom>
          <a:noFill/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6" name="직사각형 55">
            <a:hlinkClick r:id="" action="ppaction://noaction"/>
            <a:extLst>
              <a:ext uri="{FF2B5EF4-FFF2-40B4-BE49-F238E27FC236}">
                <a16:creationId xmlns:a16="http://schemas.microsoft.com/office/drawing/2014/main" id="{0DD2CDB3-9B32-3EC0-3508-E277B76EFCEB}"/>
              </a:ext>
            </a:extLst>
          </p:cNvPr>
          <p:cNvSpPr/>
          <p:nvPr/>
        </p:nvSpPr>
        <p:spPr>
          <a:xfrm>
            <a:off x="1635835" y="846010"/>
            <a:ext cx="667226" cy="206731"/>
          </a:xfrm>
          <a:prstGeom prst="rect">
            <a:avLst/>
          </a:prstGeom>
          <a:solidFill>
            <a:srgbClr val="0000FF"/>
          </a:solidFill>
          <a:ln w="3175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45714" rIns="0" bIns="45714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S95H</a:t>
            </a:r>
            <a:endParaRPr kumimoji="1" lang="ko-KR" altLang="en-US" sz="12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57" name="직사각형 56">
            <a:hlinkClick r:id="" action="ppaction://noaction"/>
            <a:extLst>
              <a:ext uri="{FF2B5EF4-FFF2-40B4-BE49-F238E27FC236}">
                <a16:creationId xmlns:a16="http://schemas.microsoft.com/office/drawing/2014/main" id="{593096AE-E77D-D999-1822-0F7BFD039C70}"/>
              </a:ext>
            </a:extLst>
          </p:cNvPr>
          <p:cNvSpPr/>
          <p:nvPr/>
        </p:nvSpPr>
        <p:spPr>
          <a:xfrm>
            <a:off x="1635835" y="1373665"/>
            <a:ext cx="667226" cy="206731"/>
          </a:xfrm>
          <a:prstGeom prst="rect">
            <a:avLst/>
          </a:prstGeom>
          <a:solidFill>
            <a:srgbClr val="0000FF"/>
          </a:solidFill>
          <a:ln w="3175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45714" rIns="0" bIns="45714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S90H</a:t>
            </a:r>
            <a:endParaRPr kumimoji="1" lang="ko-KR" altLang="en-US" sz="12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58" name="직사각형 57">
            <a:hlinkClick r:id="" action="ppaction://noaction"/>
            <a:extLst>
              <a:ext uri="{FF2B5EF4-FFF2-40B4-BE49-F238E27FC236}">
                <a16:creationId xmlns:a16="http://schemas.microsoft.com/office/drawing/2014/main" id="{FBA7819F-262A-21C6-5815-77219D18566D}"/>
              </a:ext>
            </a:extLst>
          </p:cNvPr>
          <p:cNvSpPr/>
          <p:nvPr/>
        </p:nvSpPr>
        <p:spPr>
          <a:xfrm>
            <a:off x="1635835" y="2832331"/>
            <a:ext cx="667226" cy="206731"/>
          </a:xfrm>
          <a:prstGeom prst="rect">
            <a:avLst/>
          </a:prstGeom>
          <a:solidFill>
            <a:srgbClr val="0000FF"/>
          </a:solidFill>
          <a:ln w="3175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45714" rIns="0" bIns="45714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S85H</a:t>
            </a:r>
            <a:endParaRPr kumimoji="1" lang="ko-KR" altLang="en-US" sz="12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61" name="직사각형 60">
            <a:hlinkClick r:id="" action="ppaction://noaction"/>
            <a:extLst>
              <a:ext uri="{FF2B5EF4-FFF2-40B4-BE49-F238E27FC236}">
                <a16:creationId xmlns:a16="http://schemas.microsoft.com/office/drawing/2014/main" id="{2F11B44D-3674-CF77-41E9-8C0AB162CA33}"/>
              </a:ext>
            </a:extLst>
          </p:cNvPr>
          <p:cNvSpPr/>
          <p:nvPr/>
        </p:nvSpPr>
        <p:spPr>
          <a:xfrm>
            <a:off x="6322549" y="3024848"/>
            <a:ext cx="667226" cy="206731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45714" rIns="0" bIns="45714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QN80H</a:t>
            </a:r>
            <a:endParaRPr kumimoji="1" lang="ko-KR" altLang="en-US" sz="12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62" name="직사각형 61">
            <a:hlinkClick r:id="" action="ppaction://noaction"/>
            <a:extLst>
              <a:ext uri="{FF2B5EF4-FFF2-40B4-BE49-F238E27FC236}">
                <a16:creationId xmlns:a16="http://schemas.microsoft.com/office/drawing/2014/main" id="{1196FC2C-59A5-163B-9EE2-0519731FE5E6}"/>
              </a:ext>
            </a:extLst>
          </p:cNvPr>
          <p:cNvSpPr/>
          <p:nvPr/>
        </p:nvSpPr>
        <p:spPr>
          <a:xfrm>
            <a:off x="6322549" y="3462405"/>
            <a:ext cx="667226" cy="206731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45714" rIns="0" bIns="45714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QN70H</a:t>
            </a:r>
            <a:endParaRPr kumimoji="1" lang="ko-KR" altLang="en-US" sz="12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63" name="직사각형 62">
            <a:hlinkClick r:id="" action="ppaction://noaction"/>
            <a:extLst>
              <a:ext uri="{FF2B5EF4-FFF2-40B4-BE49-F238E27FC236}">
                <a16:creationId xmlns:a16="http://schemas.microsoft.com/office/drawing/2014/main" id="{80AC0ECA-734C-632B-C879-BA88DFC67E17}"/>
              </a:ext>
            </a:extLst>
          </p:cNvPr>
          <p:cNvSpPr/>
          <p:nvPr/>
        </p:nvSpPr>
        <p:spPr>
          <a:xfrm>
            <a:off x="6322549" y="4267550"/>
            <a:ext cx="667226" cy="206731"/>
          </a:xfrm>
          <a:prstGeom prst="rect">
            <a:avLst/>
          </a:prstGeom>
          <a:solidFill>
            <a:schemeClr val="bg1"/>
          </a:solidFill>
          <a:ln w="3175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45714" rIns="0" bIns="45714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M80H</a:t>
            </a:r>
            <a:endParaRPr kumimoji="1" lang="ko-KR" altLang="en-US" sz="12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64" name="직사각형 63">
            <a:hlinkClick r:id="" action="ppaction://noaction"/>
            <a:extLst>
              <a:ext uri="{FF2B5EF4-FFF2-40B4-BE49-F238E27FC236}">
                <a16:creationId xmlns:a16="http://schemas.microsoft.com/office/drawing/2014/main" id="{ADFA6CD3-706B-8B39-241D-78B51070A612}"/>
              </a:ext>
            </a:extLst>
          </p:cNvPr>
          <p:cNvSpPr/>
          <p:nvPr/>
        </p:nvSpPr>
        <p:spPr>
          <a:xfrm>
            <a:off x="6322549" y="5128156"/>
            <a:ext cx="667226" cy="206731"/>
          </a:xfrm>
          <a:prstGeom prst="rect">
            <a:avLst/>
          </a:prstGeom>
          <a:solidFill>
            <a:schemeClr val="bg1"/>
          </a:solidFill>
          <a:ln w="3175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45714" rIns="0" bIns="45714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M70H</a:t>
            </a:r>
            <a:endParaRPr kumimoji="1" lang="ko-KR" altLang="en-US" sz="12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66" name="직사각형 65">
            <a:hlinkClick r:id="" action="ppaction://noaction"/>
            <a:extLst>
              <a:ext uri="{FF2B5EF4-FFF2-40B4-BE49-F238E27FC236}">
                <a16:creationId xmlns:a16="http://schemas.microsoft.com/office/drawing/2014/main" id="{8C1CED10-1998-0BAE-2854-F3D522214C7D}"/>
              </a:ext>
            </a:extLst>
          </p:cNvPr>
          <p:cNvSpPr/>
          <p:nvPr/>
        </p:nvSpPr>
        <p:spPr>
          <a:xfrm>
            <a:off x="6322549" y="5777772"/>
            <a:ext cx="667226" cy="20673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45714" rIns="0" bIns="45714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U80H</a:t>
            </a:r>
            <a:endParaRPr kumimoji="1" lang="ko-KR" altLang="en-US" sz="12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84" name="직사각형 83">
            <a:hlinkClick r:id="" action="ppaction://noaction"/>
            <a:extLst>
              <a:ext uri="{FF2B5EF4-FFF2-40B4-BE49-F238E27FC236}">
                <a16:creationId xmlns:a16="http://schemas.microsoft.com/office/drawing/2014/main" id="{F526B520-0D93-219C-2A48-2C448A065EB1}"/>
              </a:ext>
            </a:extLst>
          </p:cNvPr>
          <p:cNvSpPr/>
          <p:nvPr/>
        </p:nvSpPr>
        <p:spPr>
          <a:xfrm>
            <a:off x="6322549" y="847104"/>
            <a:ext cx="667226" cy="206731"/>
          </a:xfrm>
          <a:prstGeom prst="rect">
            <a:avLst/>
          </a:prstGeom>
          <a:solidFill>
            <a:srgbClr val="0066FF"/>
          </a:solidFill>
          <a:ln w="3175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45714" rIns="0" bIns="45714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R95H</a:t>
            </a:r>
            <a:endParaRPr kumimoji="1" lang="ko-KR" altLang="en-US" sz="12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08" name="AutoShape 9">
            <a:extLst>
              <a:ext uri="{FF2B5EF4-FFF2-40B4-BE49-F238E27FC236}">
                <a16:creationId xmlns:a16="http://schemas.microsoft.com/office/drawing/2014/main" id="{5AAB23BB-2938-57DF-DC41-56EC499559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722" y="891812"/>
            <a:ext cx="445156" cy="5173084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3175" algn="ctr">
            <a:solidFill>
              <a:srgbClr val="5F5F5F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119693" tIns="59844" rIns="119693" bIns="59844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sym typeface="Wingdings" pitchFamily="2" charset="2"/>
              </a:rPr>
              <a:t>OLED</a:t>
            </a:r>
            <a:endParaRPr kumimoji="1" lang="en-US" altLang="ko-KR" sz="1200" b="1" kern="0" dirty="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  <a:sym typeface="Wingdings" pitchFamily="2" charset="2"/>
            </a:endParaRPr>
          </a:p>
        </p:txBody>
      </p:sp>
      <p:sp>
        <p:nvSpPr>
          <p:cNvPr id="91" name="직사각형 90">
            <a:hlinkClick r:id="" action="ppaction://noaction"/>
            <a:extLst>
              <a:ext uri="{FF2B5EF4-FFF2-40B4-BE49-F238E27FC236}">
                <a16:creationId xmlns:a16="http://schemas.microsoft.com/office/drawing/2014/main" id="{67AFA89E-7C17-1E1E-AF0F-631CF81B13B9}"/>
              </a:ext>
            </a:extLst>
          </p:cNvPr>
          <p:cNvSpPr/>
          <p:nvPr/>
        </p:nvSpPr>
        <p:spPr>
          <a:xfrm>
            <a:off x="3155786" y="859525"/>
            <a:ext cx="667226" cy="206731"/>
          </a:xfrm>
          <a:prstGeom prst="rect">
            <a:avLst/>
          </a:prstGeom>
          <a:solidFill>
            <a:srgbClr val="C00000"/>
          </a:solidFill>
          <a:ln w="3175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45714" rIns="0" bIns="45714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G6</a:t>
            </a:r>
            <a:endParaRPr kumimoji="1" lang="ko-KR" altLang="en-US" sz="12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92" name="직사각형 91">
            <a:hlinkClick r:id="" action="ppaction://noaction"/>
            <a:extLst>
              <a:ext uri="{FF2B5EF4-FFF2-40B4-BE49-F238E27FC236}">
                <a16:creationId xmlns:a16="http://schemas.microsoft.com/office/drawing/2014/main" id="{970D4A2F-D67B-9DE0-95D3-7C5E0B4E9376}"/>
              </a:ext>
            </a:extLst>
          </p:cNvPr>
          <p:cNvSpPr/>
          <p:nvPr/>
        </p:nvSpPr>
        <p:spPr>
          <a:xfrm>
            <a:off x="3155786" y="1387180"/>
            <a:ext cx="667226" cy="206731"/>
          </a:xfrm>
          <a:prstGeom prst="rect">
            <a:avLst/>
          </a:prstGeom>
          <a:solidFill>
            <a:srgbClr val="C00000"/>
          </a:solidFill>
          <a:ln w="3175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45714" rIns="0" bIns="45714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C6</a:t>
            </a:r>
            <a:endParaRPr kumimoji="1" lang="ko-KR" altLang="en-US" sz="12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93" name="직사각형 92">
            <a:hlinkClick r:id="" action="ppaction://noaction"/>
            <a:extLst>
              <a:ext uri="{FF2B5EF4-FFF2-40B4-BE49-F238E27FC236}">
                <a16:creationId xmlns:a16="http://schemas.microsoft.com/office/drawing/2014/main" id="{DDC853BB-A729-BB2F-05C2-DFD5D343431E}"/>
              </a:ext>
            </a:extLst>
          </p:cNvPr>
          <p:cNvSpPr/>
          <p:nvPr/>
        </p:nvSpPr>
        <p:spPr>
          <a:xfrm>
            <a:off x="3155786" y="2116681"/>
            <a:ext cx="667226" cy="206731"/>
          </a:xfrm>
          <a:prstGeom prst="rect">
            <a:avLst/>
          </a:prstGeom>
          <a:solidFill>
            <a:srgbClr val="C00000"/>
          </a:solidFill>
          <a:ln w="3175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45714" rIns="0" bIns="45714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B6</a:t>
            </a:r>
            <a:endParaRPr kumimoji="1" lang="ko-KR" altLang="en-US" sz="12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0EA6A9D0-FFD4-DBA1-2E8C-EEDC71CD7DFD}"/>
              </a:ext>
            </a:extLst>
          </p:cNvPr>
          <p:cNvSpPr txBox="1"/>
          <p:nvPr/>
        </p:nvSpPr>
        <p:spPr>
          <a:xfrm>
            <a:off x="6553570" y="1057666"/>
            <a:ext cx="205184" cy="13849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wrap="none" lIns="0" tIns="0" rIns="0" bIns="0" rtlCol="0" anchor="ctr" anchorCtr="0">
            <a:spAutoFit/>
          </a:bodyPr>
          <a:lstStyle>
            <a:defPPr>
              <a:defRPr lang="ko-KR"/>
            </a:defPPr>
            <a:lvl1pPr marL="182563" indent="-182563" fontAlgn="base">
              <a:spcBef>
                <a:spcPct val="0"/>
              </a:spcBef>
              <a:spcAft>
                <a:spcPct val="0"/>
              </a:spcAft>
              <a:defRPr kumimoji="1" sz="800" b="0">
                <a:solidFill>
                  <a:srgbClr val="006600"/>
                </a:solidFill>
                <a:latin typeface="Arial Narrow" panose="020B0606020202030204" pitchFamily="34" charset="0"/>
                <a:ea typeface="돋움" pitchFamily="50" charset="-127"/>
                <a:cs typeface="Arial" pitchFamily="34" charset="0"/>
              </a:defRPr>
            </a:lvl1pPr>
          </a:lstStyle>
          <a:p>
            <a:pPr marL="182563" marR="0" lvl="0" indent="-182563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ea typeface="LG스마트체 Regular" panose="020B0600000101010101" pitchFamily="50" charset="-127"/>
              </a:rPr>
              <a:t>RGB</a:t>
            </a: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6216412B-F7BC-A78A-2A92-2F5A96764C32}"/>
              </a:ext>
            </a:extLst>
          </p:cNvPr>
          <p:cNvSpPr txBox="1"/>
          <p:nvPr/>
        </p:nvSpPr>
        <p:spPr>
          <a:xfrm>
            <a:off x="1800331" y="3044136"/>
            <a:ext cx="338234" cy="13849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wrap="none" lIns="0" tIns="0" rIns="0" bIns="0" rtlCol="0" anchor="ctr" anchorCtr="0">
            <a:spAutoFit/>
          </a:bodyPr>
          <a:lstStyle>
            <a:defPPr>
              <a:defRPr lang="ko-KR"/>
            </a:defPPr>
            <a:lvl1pPr marL="182563" indent="-182563" fontAlgn="base">
              <a:spcBef>
                <a:spcPct val="0"/>
              </a:spcBef>
              <a:spcAft>
                <a:spcPct val="0"/>
              </a:spcAft>
              <a:defRPr kumimoji="1" sz="800" b="0">
                <a:solidFill>
                  <a:srgbClr val="006600"/>
                </a:solidFill>
                <a:latin typeface="Arial Narrow" panose="020B0606020202030204" pitchFamily="34" charset="0"/>
                <a:ea typeface="돋움" pitchFamily="50" charset="-127"/>
                <a:cs typeface="Arial" pitchFamily="34" charset="0"/>
              </a:defRPr>
            </a:lvl1pPr>
          </a:lstStyle>
          <a:p>
            <a:pPr marL="182563" marR="0" lvl="0" indent="-182563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ea typeface="LG스마트체 Regular" panose="020B0600000101010101" pitchFamily="50" charset="-127"/>
              </a:rPr>
              <a:t>Pol-less</a:t>
            </a: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5FEDDFCA-8680-7D83-71A5-04A74CEA3654}"/>
              </a:ext>
            </a:extLst>
          </p:cNvPr>
          <p:cNvSpPr txBox="1"/>
          <p:nvPr/>
        </p:nvSpPr>
        <p:spPr>
          <a:xfrm>
            <a:off x="3007697" y="3052811"/>
            <a:ext cx="963405" cy="13849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wrap="square" lIns="0" tIns="0" rIns="0" bIns="0" rtlCol="0" anchor="ctr" anchorCtr="0">
            <a:spAutoFit/>
          </a:bodyPr>
          <a:lstStyle>
            <a:defPPr>
              <a:defRPr lang="ko-KR"/>
            </a:defPPr>
            <a:lvl1pPr marL="182563" indent="-182563" fontAlgn="base">
              <a:spcBef>
                <a:spcPct val="0"/>
              </a:spcBef>
              <a:spcAft>
                <a:spcPct val="0"/>
              </a:spcAft>
              <a:defRPr kumimoji="1" sz="800" b="0">
                <a:solidFill>
                  <a:srgbClr val="006600"/>
                </a:solidFill>
                <a:latin typeface="Arial Narrow" panose="020B0606020202030204" pitchFamily="34" charset="0"/>
                <a:ea typeface="돋움" pitchFamily="50" charset="-127"/>
                <a:cs typeface="Arial" pitchFamily="34" charset="0"/>
              </a:defRPr>
            </a:lvl1pPr>
          </a:lstStyle>
          <a:p>
            <a:pPr marL="182563" marR="0" lvl="0" indent="-182563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ea typeface="LG스마트체 Regular" panose="020B0600000101010101" pitchFamily="50" charset="-127"/>
              </a:rPr>
              <a:t>Pol-less, </a:t>
            </a:r>
            <a:r>
              <a:rPr kumimoji="1" lang="ko-KR" altLang="en-US" sz="9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ea typeface="LG스마트체 Regular" panose="020B0600000101010101" pitchFamily="50" charset="-127"/>
              </a:rPr>
              <a:t>반사율</a:t>
            </a:r>
            <a:r>
              <a:rPr kumimoji="1" lang="en-US" altLang="ko-KR" sz="9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ea typeface="LG스마트체 Regular" panose="020B0600000101010101" pitchFamily="50" charset="-127"/>
              </a:rPr>
              <a:t> 4.4%</a:t>
            </a:r>
          </a:p>
        </p:txBody>
      </p:sp>
      <p:sp>
        <p:nvSpPr>
          <p:cNvPr id="291" name="직사각형 290">
            <a:hlinkClick r:id="" action="ppaction://noaction"/>
            <a:extLst>
              <a:ext uri="{FF2B5EF4-FFF2-40B4-BE49-F238E27FC236}">
                <a16:creationId xmlns:a16="http://schemas.microsoft.com/office/drawing/2014/main" id="{B396B77B-5FC9-BABA-5048-D80398EC2266}"/>
              </a:ext>
            </a:extLst>
          </p:cNvPr>
          <p:cNvSpPr/>
          <p:nvPr/>
        </p:nvSpPr>
        <p:spPr>
          <a:xfrm>
            <a:off x="3155786" y="2827684"/>
            <a:ext cx="667226" cy="206731"/>
          </a:xfrm>
          <a:prstGeom prst="rect">
            <a:avLst/>
          </a:prstGeom>
          <a:solidFill>
            <a:srgbClr val="C00000"/>
          </a:solidFill>
          <a:ln w="3175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45714" rIns="0" bIns="45714" rtlCol="0" anchor="ctr"/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200" b="1" u="sng" kern="0" dirty="0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B6</a:t>
            </a:r>
            <a:r>
              <a:rPr kumimoji="1" lang="en-US" altLang="ko-KR" sz="1200" b="1" kern="0" dirty="0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* / B6E</a:t>
            </a:r>
            <a:endParaRPr kumimoji="1" lang="ko-KR" altLang="en-US" sz="12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grpSp>
        <p:nvGrpSpPr>
          <p:cNvPr id="331" name="그룹 330">
            <a:extLst>
              <a:ext uri="{FF2B5EF4-FFF2-40B4-BE49-F238E27FC236}">
                <a16:creationId xmlns:a16="http://schemas.microsoft.com/office/drawing/2014/main" id="{54A1197F-3122-4572-EF1F-3096D29A6690}"/>
              </a:ext>
            </a:extLst>
          </p:cNvPr>
          <p:cNvGrpSpPr/>
          <p:nvPr/>
        </p:nvGrpSpPr>
        <p:grpSpPr>
          <a:xfrm>
            <a:off x="1602474" y="504716"/>
            <a:ext cx="2041208" cy="258884"/>
            <a:chOff x="1600722" y="1187719"/>
            <a:chExt cx="2157118" cy="258884"/>
          </a:xfrm>
        </p:grpSpPr>
        <p:sp>
          <p:nvSpPr>
            <p:cNvPr id="332" name="Text Box 41">
              <a:extLst>
                <a:ext uri="{FF2B5EF4-FFF2-40B4-BE49-F238E27FC236}">
                  <a16:creationId xmlns:a16="http://schemas.microsoft.com/office/drawing/2014/main" id="{EB3C2354-3810-13D1-2835-D5D6C2D1E53A}"/>
                </a:ext>
              </a:extLst>
            </p:cNvPr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2348171" y="1187719"/>
              <a:ext cx="662221" cy="1846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r>
                <a:rPr kumimoji="1" lang="en-US" altLang="ko-KR" sz="1200" b="1" dirty="0">
                  <a:solidFill>
                    <a:srgbClr val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  <a:cs typeface="Arial" pitchFamily="34" charset="0"/>
                </a:rPr>
                <a:t>Self-Lit</a:t>
              </a:r>
              <a:endParaRPr kumimoji="1" lang="ko-KR" altLang="en-US" sz="1200" b="1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endParaRPr>
            </a:p>
          </p:txBody>
        </p:sp>
        <p:sp>
          <p:nvSpPr>
            <p:cNvPr id="333" name="Line 8">
              <a:extLst>
                <a:ext uri="{FF2B5EF4-FFF2-40B4-BE49-F238E27FC236}">
                  <a16:creationId xmlns:a16="http://schemas.microsoft.com/office/drawing/2014/main" id="{007B1588-5174-8ED2-3452-44463AF65234}"/>
                </a:ext>
              </a:extLst>
            </p:cNvPr>
            <p:cNvSpPr>
              <a:spLocks noChangeShapeType="1"/>
            </p:cNvSpPr>
            <p:nvPr>
              <p:custDataLst>
                <p:tags r:id="rId8"/>
              </p:custDataLst>
            </p:nvPr>
          </p:nvSpPr>
          <p:spPr bwMode="auto">
            <a:xfrm>
              <a:off x="1600722" y="1446603"/>
              <a:ext cx="2157118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endParaRPr>
            </a:p>
          </p:txBody>
        </p:sp>
      </p:grpSp>
      <p:sp>
        <p:nvSpPr>
          <p:cNvPr id="385" name="TextBox 384">
            <a:extLst>
              <a:ext uri="{FF2B5EF4-FFF2-40B4-BE49-F238E27FC236}">
                <a16:creationId xmlns:a16="http://schemas.microsoft.com/office/drawing/2014/main" id="{6E073C6B-858E-CA4E-CFC3-795DC4E2881C}"/>
              </a:ext>
            </a:extLst>
          </p:cNvPr>
          <p:cNvSpPr txBox="1"/>
          <p:nvPr/>
        </p:nvSpPr>
        <p:spPr>
          <a:xfrm>
            <a:off x="6502273" y="4479868"/>
            <a:ext cx="307778" cy="13849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wrap="none" lIns="0" tIns="0" rIns="0" bIns="0" rtlCol="0" anchor="ctr" anchorCtr="0">
            <a:spAutoFit/>
          </a:bodyPr>
          <a:lstStyle>
            <a:defPPr>
              <a:defRPr lang="ko-KR"/>
            </a:defPPr>
            <a:lvl1pPr marL="182563" indent="-182563" fontAlgn="base">
              <a:spcBef>
                <a:spcPct val="0"/>
              </a:spcBef>
              <a:spcAft>
                <a:spcPct val="0"/>
              </a:spcAft>
              <a:defRPr kumimoji="1" sz="800" b="0">
                <a:solidFill>
                  <a:srgbClr val="006600"/>
                </a:solidFill>
                <a:latin typeface="Arial Narrow" panose="020B0606020202030204" pitchFamily="34" charset="0"/>
                <a:ea typeface="돋움" pitchFamily="50" charset="-127"/>
                <a:cs typeface="Arial" pitchFamily="34" charset="0"/>
              </a:defRPr>
            </a:lvl1pPr>
          </a:lstStyle>
          <a:p>
            <a:pPr marL="182563" marR="0" lvl="0" indent="-182563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900" kern="0" dirty="0">
                <a:ea typeface="LG스마트체 Regular" panose="020B0600000101010101" pitchFamily="50" charset="-127"/>
              </a:rPr>
              <a:t>외관화</a:t>
            </a:r>
            <a:endParaRPr kumimoji="1" lang="en-US" altLang="ko-KR" sz="900" b="0" i="0" u="none" strike="noStrike" kern="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ea typeface="LG스마트체 Regular" panose="020B0600000101010101" pitchFamily="50" charset="-127"/>
            </a:endParaRPr>
          </a:p>
        </p:txBody>
      </p:sp>
      <p:sp>
        <p:nvSpPr>
          <p:cNvPr id="386" name="TextBox 385">
            <a:extLst>
              <a:ext uri="{FF2B5EF4-FFF2-40B4-BE49-F238E27FC236}">
                <a16:creationId xmlns:a16="http://schemas.microsoft.com/office/drawing/2014/main" id="{F41CCAEB-2A67-031E-FD50-E738DAE343F4}"/>
              </a:ext>
            </a:extLst>
          </p:cNvPr>
          <p:cNvSpPr txBox="1"/>
          <p:nvPr/>
        </p:nvSpPr>
        <p:spPr>
          <a:xfrm>
            <a:off x="6502273" y="5389082"/>
            <a:ext cx="307778" cy="13849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wrap="none" lIns="0" tIns="0" rIns="0" bIns="0" rtlCol="0" anchor="ctr" anchorCtr="0">
            <a:spAutoFit/>
          </a:bodyPr>
          <a:lstStyle>
            <a:defPPr>
              <a:defRPr lang="ko-KR"/>
            </a:defPPr>
            <a:lvl1pPr marL="182563" indent="-182563" fontAlgn="base">
              <a:spcBef>
                <a:spcPct val="0"/>
              </a:spcBef>
              <a:spcAft>
                <a:spcPct val="0"/>
              </a:spcAft>
              <a:defRPr kumimoji="1" sz="800" b="0">
                <a:solidFill>
                  <a:srgbClr val="006600"/>
                </a:solidFill>
                <a:latin typeface="Arial Narrow" panose="020B0606020202030204" pitchFamily="34" charset="0"/>
                <a:ea typeface="돋움" pitchFamily="50" charset="-127"/>
                <a:cs typeface="Arial" pitchFamily="34" charset="0"/>
              </a:defRPr>
            </a:lvl1pPr>
          </a:lstStyle>
          <a:p>
            <a:pPr marL="182563" marR="0" lvl="0" indent="-182563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900" kern="0" dirty="0">
                <a:ea typeface="LG스마트체 Regular" panose="020B0600000101010101" pitchFamily="50" charset="-127"/>
              </a:rPr>
              <a:t>외관화</a:t>
            </a:r>
            <a:endParaRPr kumimoji="1" lang="en-US" altLang="ko-KR" sz="900" b="0" i="0" u="none" strike="noStrike" kern="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ea typeface="LG스마트체 Regular" panose="020B0600000101010101" pitchFamily="50" charset="-127"/>
            </a:endParaRPr>
          </a:p>
        </p:txBody>
      </p:sp>
      <p:sp>
        <p:nvSpPr>
          <p:cNvPr id="387" name="TextBox 386">
            <a:extLst>
              <a:ext uri="{FF2B5EF4-FFF2-40B4-BE49-F238E27FC236}">
                <a16:creationId xmlns:a16="http://schemas.microsoft.com/office/drawing/2014/main" id="{76B61BDD-D271-062F-336F-F1C6181B798E}"/>
              </a:ext>
            </a:extLst>
          </p:cNvPr>
          <p:cNvSpPr txBox="1"/>
          <p:nvPr/>
        </p:nvSpPr>
        <p:spPr>
          <a:xfrm>
            <a:off x="6502273" y="5992211"/>
            <a:ext cx="307778" cy="13849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wrap="none" lIns="0" tIns="0" rIns="0" bIns="0" rtlCol="0" anchor="ctr" anchorCtr="0">
            <a:spAutoFit/>
          </a:bodyPr>
          <a:lstStyle>
            <a:defPPr>
              <a:defRPr lang="ko-KR"/>
            </a:defPPr>
            <a:lvl1pPr marL="182563" indent="-182563" fontAlgn="base">
              <a:spcBef>
                <a:spcPct val="0"/>
              </a:spcBef>
              <a:spcAft>
                <a:spcPct val="0"/>
              </a:spcAft>
              <a:defRPr kumimoji="1" sz="800" b="0">
                <a:solidFill>
                  <a:srgbClr val="006600"/>
                </a:solidFill>
                <a:latin typeface="Arial Narrow" panose="020B0606020202030204" pitchFamily="34" charset="0"/>
                <a:ea typeface="돋움" pitchFamily="50" charset="-127"/>
                <a:cs typeface="Arial" pitchFamily="34" charset="0"/>
              </a:defRPr>
            </a:lvl1pPr>
          </a:lstStyle>
          <a:p>
            <a:pPr marL="182563" marR="0" lvl="0" indent="-182563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900" kern="0" dirty="0">
                <a:ea typeface="LG스마트체 Regular" panose="020B0600000101010101" pitchFamily="50" charset="-127"/>
              </a:rPr>
              <a:t>외관화</a:t>
            </a:r>
            <a:endParaRPr kumimoji="1" lang="en-US" altLang="ko-KR" sz="900" b="0" i="0" u="none" strike="noStrike" kern="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ea typeface="LG스마트체 Regular" panose="020B0600000101010101" pitchFamily="50" charset="-127"/>
            </a:endParaRPr>
          </a:p>
        </p:txBody>
      </p:sp>
      <p:sp>
        <p:nvSpPr>
          <p:cNvPr id="388" name="TextBox 387">
            <a:extLst>
              <a:ext uri="{FF2B5EF4-FFF2-40B4-BE49-F238E27FC236}">
                <a16:creationId xmlns:a16="http://schemas.microsoft.com/office/drawing/2014/main" id="{026DB912-BA62-DD1F-6F30-CE55E6AE5913}"/>
              </a:ext>
            </a:extLst>
          </p:cNvPr>
          <p:cNvSpPr txBox="1"/>
          <p:nvPr/>
        </p:nvSpPr>
        <p:spPr>
          <a:xfrm>
            <a:off x="6441359" y="3676286"/>
            <a:ext cx="429606" cy="13849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wrap="none" lIns="0" tIns="0" rIns="0" bIns="0" rtlCol="0" anchor="ctr" anchorCtr="0">
            <a:spAutoFit/>
          </a:bodyPr>
          <a:lstStyle>
            <a:defPPr>
              <a:defRPr lang="ko-KR"/>
            </a:defPPr>
            <a:lvl1pPr marL="182563" indent="-182563" fontAlgn="base">
              <a:spcBef>
                <a:spcPct val="0"/>
              </a:spcBef>
              <a:spcAft>
                <a:spcPct val="0"/>
              </a:spcAft>
              <a:defRPr kumimoji="1" sz="800" b="0">
                <a:solidFill>
                  <a:srgbClr val="006600"/>
                </a:solidFill>
                <a:latin typeface="Arial Narrow" panose="020B0606020202030204" pitchFamily="34" charset="0"/>
                <a:ea typeface="돋움" pitchFamily="50" charset="-127"/>
                <a:cs typeface="Arial" pitchFamily="34" charset="0"/>
              </a:defRPr>
            </a:lvl1pPr>
          </a:lstStyle>
          <a:p>
            <a:pPr marL="182563" marR="0" lvl="0" indent="-182563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ea typeface="LG스마트체 Regular" panose="020B0600000101010101" pitchFamily="50" charset="-127"/>
              </a:rPr>
              <a:t>Slim Edge</a:t>
            </a:r>
          </a:p>
        </p:txBody>
      </p:sp>
      <p:sp>
        <p:nvSpPr>
          <p:cNvPr id="389" name="TextBox 388">
            <a:extLst>
              <a:ext uri="{FF2B5EF4-FFF2-40B4-BE49-F238E27FC236}">
                <a16:creationId xmlns:a16="http://schemas.microsoft.com/office/drawing/2014/main" id="{9EBD6E0E-F25C-C499-31ED-D52F1B6CC254}"/>
              </a:ext>
            </a:extLst>
          </p:cNvPr>
          <p:cNvSpPr txBox="1"/>
          <p:nvPr/>
        </p:nvSpPr>
        <p:spPr>
          <a:xfrm>
            <a:off x="6400484" y="3246985"/>
            <a:ext cx="511357" cy="13849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wrap="none" lIns="0" tIns="0" rIns="0" bIns="0" rtlCol="0" anchor="ctr" anchorCtr="0">
            <a:spAutoFit/>
          </a:bodyPr>
          <a:lstStyle>
            <a:defPPr>
              <a:defRPr lang="ko-KR"/>
            </a:defPPr>
            <a:lvl1pPr marL="182563" indent="-182563" fontAlgn="base">
              <a:spcBef>
                <a:spcPct val="0"/>
              </a:spcBef>
              <a:spcAft>
                <a:spcPct val="0"/>
              </a:spcAft>
              <a:defRPr kumimoji="1" sz="800" b="0">
                <a:solidFill>
                  <a:srgbClr val="006600"/>
                </a:solidFill>
                <a:latin typeface="Arial Narrow" panose="020B0606020202030204" pitchFamily="34" charset="0"/>
                <a:ea typeface="돋움" pitchFamily="50" charset="-127"/>
                <a:cs typeface="Arial" pitchFamily="34" charset="0"/>
              </a:defRPr>
            </a:lvl1pPr>
          </a:lstStyle>
          <a:p>
            <a:pPr marL="182563" marR="0" lvl="0" indent="-182563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ea typeface="LG스마트체 Regular" panose="020B0600000101010101" pitchFamily="50" charset="-127"/>
              </a:rPr>
              <a:t>Mini (Direct)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636E48F3-8B5D-2537-CD65-97EE192006E4}"/>
              </a:ext>
            </a:extLst>
          </p:cNvPr>
          <p:cNvGrpSpPr/>
          <p:nvPr/>
        </p:nvGrpSpPr>
        <p:grpSpPr>
          <a:xfrm>
            <a:off x="196706" y="115460"/>
            <a:ext cx="11798588" cy="314302"/>
            <a:chOff x="1600722" y="1132301"/>
            <a:chExt cx="2157118" cy="314302"/>
          </a:xfrm>
        </p:grpSpPr>
        <p:sp>
          <p:nvSpPr>
            <p:cNvPr id="3" name="Text Box 41">
              <a:extLst>
                <a:ext uri="{FF2B5EF4-FFF2-40B4-BE49-F238E27FC236}">
                  <a16:creationId xmlns:a16="http://schemas.microsoft.com/office/drawing/2014/main" id="{4BE67303-3124-B8C1-B5DD-A6685523B90A}"/>
                </a:ext>
              </a:extLst>
            </p:cNvPr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1604272" y="1132301"/>
              <a:ext cx="334445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defTabSz="914400" rtl="0" eaLnBrk="1" fontAlgn="base" latinLnBrk="1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r>
                <a:rPr kumimoji="1" lang="en-US" altLang="ko-KR" b="1" dirty="0">
                  <a:solidFill>
                    <a:srgbClr val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  <a:cs typeface="Arial" pitchFamily="34" charset="0"/>
                </a:rPr>
                <a:t>`26</a:t>
              </a:r>
              <a:r>
                <a:rPr kumimoji="1" lang="ko-KR" altLang="en-US" b="1" dirty="0">
                  <a:solidFill>
                    <a:srgbClr val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  <a:cs typeface="Arial" pitchFamily="34" charset="0"/>
                </a:rPr>
                <a:t>년 </a:t>
              </a:r>
              <a:r>
                <a:rPr kumimoji="1" lang="en-US" altLang="ko-KR" b="1" dirty="0">
                  <a:solidFill>
                    <a:srgbClr val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  <a:cs typeface="Arial" pitchFamily="34" charset="0"/>
                </a:rPr>
                <a:t>TV ATA </a:t>
              </a:r>
              <a:r>
                <a:rPr kumimoji="1" lang="ko-KR" altLang="en-US" b="1" dirty="0">
                  <a:solidFill>
                    <a:srgbClr val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  <a:cs typeface="Arial" pitchFamily="34" charset="0"/>
                </a:rPr>
                <a:t>운영안</a:t>
              </a:r>
              <a:endParaRPr kumimoji="1" lang="en-US" altLang="ko-KR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endParaRPr>
            </a:p>
          </p:txBody>
        </p:sp>
        <p:sp>
          <p:nvSpPr>
            <p:cNvPr id="4" name="Line 8">
              <a:extLst>
                <a:ext uri="{FF2B5EF4-FFF2-40B4-BE49-F238E27FC236}">
                  <a16:creationId xmlns:a16="http://schemas.microsoft.com/office/drawing/2014/main" id="{0FAB73CE-6FD5-64C1-895E-A3B62FECEB9E}"/>
                </a:ext>
              </a:extLst>
            </p:cNvPr>
            <p:cNvSpPr>
              <a:spLocks noChangeShapeType="1"/>
            </p:cNvSpPr>
            <p:nvPr>
              <p:custDataLst>
                <p:tags r:id="rId6"/>
              </p:custDataLst>
            </p:nvPr>
          </p:nvSpPr>
          <p:spPr bwMode="auto">
            <a:xfrm>
              <a:off x="1600722" y="1446603"/>
              <a:ext cx="2157118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endParaRPr>
            </a:p>
          </p:txBody>
        </p:sp>
      </p:grpSp>
      <p:graphicFrame>
        <p:nvGraphicFramePr>
          <p:cNvPr id="42" name="표 41">
            <a:extLst>
              <a:ext uri="{FF2B5EF4-FFF2-40B4-BE49-F238E27FC236}">
                <a16:creationId xmlns:a16="http://schemas.microsoft.com/office/drawing/2014/main" id="{FAE085DB-B905-0E15-C7B9-C931DF17A3C7}"/>
              </a:ext>
            </a:extLst>
          </p:cNvPr>
          <p:cNvGraphicFramePr>
            <a:graphicFrameLocks noGrp="1"/>
          </p:cNvGraphicFramePr>
          <p:nvPr/>
        </p:nvGraphicFramePr>
        <p:xfrm>
          <a:off x="862677" y="810341"/>
          <a:ext cx="720000" cy="29337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12264047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8237678"/>
                    </a:ext>
                  </a:extLst>
                </a:gridCol>
              </a:tblGrid>
              <a:tr h="5743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165Hz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17.0mm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3802869"/>
                  </a:ext>
                </a:extLst>
              </a:tr>
              <a:tr h="57432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2,000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390nit</a:t>
                      </a:r>
                      <a:endParaRPr lang="ko-KR" altLang="en-US" sz="9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8423897"/>
                  </a:ext>
                </a:extLst>
              </a:tr>
            </a:tbl>
          </a:graphicData>
        </a:graphic>
      </p:graphicFrame>
      <p:graphicFrame>
        <p:nvGraphicFramePr>
          <p:cNvPr id="51" name="표 50">
            <a:extLst>
              <a:ext uri="{FF2B5EF4-FFF2-40B4-BE49-F238E27FC236}">
                <a16:creationId xmlns:a16="http://schemas.microsoft.com/office/drawing/2014/main" id="{425657D6-8BF6-9908-A556-11C273860677}"/>
              </a:ext>
            </a:extLst>
          </p:cNvPr>
          <p:cNvGraphicFramePr>
            <a:graphicFrameLocks noGrp="1"/>
          </p:cNvGraphicFramePr>
          <p:nvPr/>
        </p:nvGraphicFramePr>
        <p:xfrm>
          <a:off x="862677" y="1339864"/>
          <a:ext cx="720000" cy="29337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12264047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8237678"/>
                    </a:ext>
                  </a:extLst>
                </a:gridCol>
              </a:tblGrid>
              <a:tr h="5743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165Hz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39.9mm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3802869"/>
                  </a:ext>
                </a:extLst>
              </a:tr>
              <a:tr h="57432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1,500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290nit</a:t>
                      </a:r>
                      <a:endParaRPr lang="ko-KR" altLang="en-US" sz="9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8423897"/>
                  </a:ext>
                </a:extLst>
              </a:tr>
            </a:tbl>
          </a:graphicData>
        </a:graphic>
      </p:graphicFrame>
      <p:graphicFrame>
        <p:nvGraphicFramePr>
          <p:cNvPr id="65" name="표 64">
            <a:extLst>
              <a:ext uri="{FF2B5EF4-FFF2-40B4-BE49-F238E27FC236}">
                <a16:creationId xmlns:a16="http://schemas.microsoft.com/office/drawing/2014/main" id="{170A92DA-DC45-43B4-E67A-9F08E3C7DAE7}"/>
              </a:ext>
            </a:extLst>
          </p:cNvPr>
          <p:cNvGraphicFramePr>
            <a:graphicFrameLocks noGrp="1"/>
          </p:cNvGraphicFramePr>
          <p:nvPr/>
        </p:nvGraphicFramePr>
        <p:xfrm>
          <a:off x="862677" y="2809097"/>
          <a:ext cx="720000" cy="29337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12264047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8237678"/>
                    </a:ext>
                  </a:extLst>
                </a:gridCol>
              </a:tblGrid>
              <a:tr h="5743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120Hz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33.9mm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3802869"/>
                  </a:ext>
                </a:extLst>
              </a:tr>
              <a:tr h="57432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700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135nit</a:t>
                      </a:r>
                      <a:endParaRPr lang="ko-KR" altLang="en-US" sz="9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8423897"/>
                  </a:ext>
                </a:extLst>
              </a:tr>
            </a:tbl>
          </a:graphicData>
        </a:graphic>
      </p:graphicFrame>
      <p:graphicFrame>
        <p:nvGraphicFramePr>
          <p:cNvPr id="68" name="표 67">
            <a:extLst>
              <a:ext uri="{FF2B5EF4-FFF2-40B4-BE49-F238E27FC236}">
                <a16:creationId xmlns:a16="http://schemas.microsoft.com/office/drawing/2014/main" id="{CC7E95FF-9CE6-8B1A-8503-43DB81F37997}"/>
              </a:ext>
            </a:extLst>
          </p:cNvPr>
          <p:cNvGraphicFramePr>
            <a:graphicFrameLocks noGrp="1"/>
          </p:cNvGraphicFramePr>
          <p:nvPr/>
        </p:nvGraphicFramePr>
        <p:xfrm>
          <a:off x="11291962" y="69850"/>
          <a:ext cx="720000" cy="29337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12264047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8237678"/>
                    </a:ext>
                  </a:extLst>
                </a:gridCol>
              </a:tblGrid>
              <a:tr h="5743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주파수</a:t>
                      </a:r>
                      <a:endParaRPr lang="en-US" altLang="ko-KR" sz="9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두께</a:t>
                      </a:r>
                      <a:endParaRPr lang="en-US" altLang="ko-KR" sz="9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3802869"/>
                  </a:ext>
                </a:extLst>
              </a:tr>
              <a:tr h="57432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Peak / </a:t>
                      </a:r>
                      <a:r>
                        <a:rPr lang="ko-KR" altLang="en-US" sz="900" b="0" i="0" u="sng" strike="noStrik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중휘도</a:t>
                      </a:r>
                      <a:endParaRPr lang="ko-KR" altLang="en-US" sz="900" b="0" i="0" u="sng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8423897"/>
                  </a:ext>
                </a:extLst>
              </a:tr>
            </a:tbl>
          </a:graphicData>
        </a:graphic>
      </p:graphicFrame>
      <p:graphicFrame>
        <p:nvGraphicFramePr>
          <p:cNvPr id="76" name="표 75">
            <a:extLst>
              <a:ext uri="{FF2B5EF4-FFF2-40B4-BE49-F238E27FC236}">
                <a16:creationId xmlns:a16="http://schemas.microsoft.com/office/drawing/2014/main" id="{49F8C1DB-54C6-9F11-6188-4B6C2AAFAB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8675012"/>
              </p:ext>
            </p:extLst>
          </p:nvPr>
        </p:nvGraphicFramePr>
        <p:xfrm>
          <a:off x="5523852" y="3006028"/>
          <a:ext cx="720000" cy="29337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12264047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8237678"/>
                    </a:ext>
                  </a:extLst>
                </a:gridCol>
              </a:tblGrid>
              <a:tr h="5743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144Hz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51.3mm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3802869"/>
                  </a:ext>
                </a:extLst>
              </a:tr>
              <a:tr h="57432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1,000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500nit</a:t>
                      </a:r>
                      <a:endParaRPr lang="ko-KR" altLang="en-US" sz="9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8423897"/>
                  </a:ext>
                </a:extLst>
              </a:tr>
            </a:tbl>
          </a:graphicData>
        </a:graphic>
      </p:graphicFrame>
      <p:graphicFrame>
        <p:nvGraphicFramePr>
          <p:cNvPr id="78" name="표 77">
            <a:extLst>
              <a:ext uri="{FF2B5EF4-FFF2-40B4-BE49-F238E27FC236}">
                <a16:creationId xmlns:a16="http://schemas.microsoft.com/office/drawing/2014/main" id="{535B1899-5BA3-C73B-3191-CF259C63BD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2033509"/>
              </p:ext>
            </p:extLst>
          </p:nvPr>
        </p:nvGraphicFramePr>
        <p:xfrm>
          <a:off x="5523852" y="3489653"/>
          <a:ext cx="720000" cy="29337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12264047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8237678"/>
                    </a:ext>
                  </a:extLst>
                </a:gridCol>
              </a:tblGrid>
              <a:tr h="5743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60Hz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25.7mm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3802869"/>
                  </a:ext>
                </a:extLst>
              </a:tr>
              <a:tr h="57432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500/400nit</a:t>
                      </a:r>
                      <a:endParaRPr lang="ko-KR" altLang="en-US" sz="9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8423897"/>
                  </a:ext>
                </a:extLst>
              </a:tr>
            </a:tbl>
          </a:graphicData>
        </a:graphic>
      </p:graphicFrame>
      <p:graphicFrame>
        <p:nvGraphicFramePr>
          <p:cNvPr id="79" name="표 78">
            <a:extLst>
              <a:ext uri="{FF2B5EF4-FFF2-40B4-BE49-F238E27FC236}">
                <a16:creationId xmlns:a16="http://schemas.microsoft.com/office/drawing/2014/main" id="{450C549F-2CA2-9D51-3064-C83B480C9998}"/>
              </a:ext>
            </a:extLst>
          </p:cNvPr>
          <p:cNvGraphicFramePr>
            <a:graphicFrameLocks noGrp="1"/>
          </p:cNvGraphicFramePr>
          <p:nvPr/>
        </p:nvGraphicFramePr>
        <p:xfrm>
          <a:off x="5523852" y="4311744"/>
          <a:ext cx="720000" cy="29337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12264047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8237678"/>
                    </a:ext>
                  </a:extLst>
                </a:gridCol>
              </a:tblGrid>
              <a:tr h="5743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144Hz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76.8mm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3802869"/>
                  </a:ext>
                </a:extLst>
              </a:tr>
              <a:tr h="57432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330nit</a:t>
                      </a:r>
                      <a:endParaRPr lang="ko-KR" altLang="en-US" sz="9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8423897"/>
                  </a:ext>
                </a:extLst>
              </a:tr>
            </a:tbl>
          </a:graphicData>
        </a:graphic>
      </p:graphicFrame>
      <p:graphicFrame>
        <p:nvGraphicFramePr>
          <p:cNvPr id="80" name="표 79">
            <a:extLst>
              <a:ext uri="{FF2B5EF4-FFF2-40B4-BE49-F238E27FC236}">
                <a16:creationId xmlns:a16="http://schemas.microsoft.com/office/drawing/2014/main" id="{568A3574-3180-8480-ECDD-596F5E0167E8}"/>
              </a:ext>
            </a:extLst>
          </p:cNvPr>
          <p:cNvGraphicFramePr>
            <a:graphicFrameLocks noGrp="1"/>
          </p:cNvGraphicFramePr>
          <p:nvPr/>
        </p:nvGraphicFramePr>
        <p:xfrm>
          <a:off x="5523852" y="5132225"/>
          <a:ext cx="720000" cy="29337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12264047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8237678"/>
                    </a:ext>
                  </a:extLst>
                </a:gridCol>
              </a:tblGrid>
              <a:tr h="5743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60Hz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76.8mm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3802869"/>
                  </a:ext>
                </a:extLst>
              </a:tr>
              <a:tr h="57432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330nit</a:t>
                      </a:r>
                      <a:endParaRPr lang="ko-KR" altLang="en-US" sz="9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8423897"/>
                  </a:ext>
                </a:extLst>
              </a:tr>
            </a:tbl>
          </a:graphicData>
        </a:graphic>
      </p:graphicFrame>
      <p:graphicFrame>
        <p:nvGraphicFramePr>
          <p:cNvPr id="81" name="표 80">
            <a:extLst>
              <a:ext uri="{FF2B5EF4-FFF2-40B4-BE49-F238E27FC236}">
                <a16:creationId xmlns:a16="http://schemas.microsoft.com/office/drawing/2014/main" id="{5A613FF9-EFAD-BC90-49ED-760D259E69DC}"/>
              </a:ext>
            </a:extLst>
          </p:cNvPr>
          <p:cNvGraphicFramePr>
            <a:graphicFrameLocks noGrp="1"/>
          </p:cNvGraphicFramePr>
          <p:nvPr/>
        </p:nvGraphicFramePr>
        <p:xfrm>
          <a:off x="5523852" y="5771526"/>
          <a:ext cx="720000" cy="29337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12264047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8237678"/>
                    </a:ext>
                  </a:extLst>
                </a:gridCol>
              </a:tblGrid>
              <a:tr h="5743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60Hz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76.8mm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3802869"/>
                  </a:ext>
                </a:extLst>
              </a:tr>
              <a:tr h="57432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300nit</a:t>
                      </a:r>
                      <a:endParaRPr lang="ko-KR" altLang="en-US" sz="9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8423897"/>
                  </a:ext>
                </a:extLst>
              </a:tr>
            </a:tbl>
          </a:graphicData>
        </a:graphic>
      </p:graphicFrame>
      <p:graphicFrame>
        <p:nvGraphicFramePr>
          <p:cNvPr id="85" name="표 84">
            <a:extLst>
              <a:ext uri="{FF2B5EF4-FFF2-40B4-BE49-F238E27FC236}">
                <a16:creationId xmlns:a16="http://schemas.microsoft.com/office/drawing/2014/main" id="{05B670CC-B737-97BA-EA78-65D4F9641B2A}"/>
              </a:ext>
            </a:extLst>
          </p:cNvPr>
          <p:cNvGraphicFramePr>
            <a:graphicFrameLocks noGrp="1"/>
          </p:cNvGraphicFramePr>
          <p:nvPr/>
        </p:nvGraphicFramePr>
        <p:xfrm>
          <a:off x="5523852" y="798529"/>
          <a:ext cx="720000" cy="29337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12264047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8237678"/>
                    </a:ext>
                  </a:extLst>
                </a:gridCol>
              </a:tblGrid>
              <a:tr h="5743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165Hz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29.6mm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3802869"/>
                  </a:ext>
                </a:extLst>
              </a:tr>
              <a:tr h="57432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2,500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800nit</a:t>
                      </a:r>
                      <a:endParaRPr lang="ko-KR" altLang="en-US" sz="9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8423897"/>
                  </a:ext>
                </a:extLst>
              </a:tr>
            </a:tbl>
          </a:graphicData>
        </a:graphic>
      </p:graphicFrame>
      <p:graphicFrame>
        <p:nvGraphicFramePr>
          <p:cNvPr id="86" name="표 85">
            <a:extLst>
              <a:ext uri="{FF2B5EF4-FFF2-40B4-BE49-F238E27FC236}">
                <a16:creationId xmlns:a16="http://schemas.microsoft.com/office/drawing/2014/main" id="{48C67924-061C-72BE-9141-5DED45900940}"/>
              </a:ext>
            </a:extLst>
          </p:cNvPr>
          <p:cNvGraphicFramePr>
            <a:graphicFrameLocks noGrp="1"/>
          </p:cNvGraphicFramePr>
          <p:nvPr/>
        </p:nvGraphicFramePr>
        <p:xfrm>
          <a:off x="3955348" y="832479"/>
          <a:ext cx="720000" cy="29337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12264047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8237678"/>
                    </a:ext>
                  </a:extLst>
                </a:gridCol>
              </a:tblGrid>
              <a:tr h="5743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165Hz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24.3mm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3802869"/>
                  </a:ext>
                </a:extLst>
              </a:tr>
              <a:tr h="57432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3,500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1,200nit</a:t>
                      </a:r>
                      <a:endParaRPr lang="ko-KR" altLang="en-US" sz="9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8423897"/>
                  </a:ext>
                </a:extLst>
              </a:tr>
            </a:tbl>
          </a:graphicData>
        </a:graphic>
      </p:graphicFrame>
      <p:graphicFrame>
        <p:nvGraphicFramePr>
          <p:cNvPr id="87" name="표 86">
            <a:extLst>
              <a:ext uri="{FF2B5EF4-FFF2-40B4-BE49-F238E27FC236}">
                <a16:creationId xmlns:a16="http://schemas.microsoft.com/office/drawing/2014/main" id="{95C8410C-C4F3-6B0C-3C4C-3775E5379E20}"/>
              </a:ext>
            </a:extLst>
          </p:cNvPr>
          <p:cNvGraphicFramePr>
            <a:graphicFrameLocks noGrp="1"/>
          </p:cNvGraphicFramePr>
          <p:nvPr/>
        </p:nvGraphicFramePr>
        <p:xfrm>
          <a:off x="3955348" y="1346619"/>
          <a:ext cx="720000" cy="29337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12264047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8237678"/>
                    </a:ext>
                  </a:extLst>
                </a:gridCol>
              </a:tblGrid>
              <a:tr h="5743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165Hz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45.7mm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3802869"/>
                  </a:ext>
                </a:extLst>
              </a:tr>
              <a:tr h="57432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1,900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700nit</a:t>
                      </a:r>
                      <a:endParaRPr lang="ko-KR" altLang="en-US" sz="9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8423897"/>
                  </a:ext>
                </a:extLst>
              </a:tr>
            </a:tbl>
          </a:graphicData>
        </a:graphic>
      </p:graphicFrame>
      <p:sp>
        <p:nvSpPr>
          <p:cNvPr id="125" name="TextBox 124">
            <a:extLst>
              <a:ext uri="{FF2B5EF4-FFF2-40B4-BE49-F238E27FC236}">
                <a16:creationId xmlns:a16="http://schemas.microsoft.com/office/drawing/2014/main" id="{C65FC08B-D5AC-EF62-A191-CFA9B10B9C7B}"/>
              </a:ext>
            </a:extLst>
          </p:cNvPr>
          <p:cNvSpPr txBox="1"/>
          <p:nvPr/>
        </p:nvSpPr>
        <p:spPr>
          <a:xfrm>
            <a:off x="3215285" y="2329512"/>
            <a:ext cx="548228" cy="13849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wrap="square" lIns="0" tIns="0" rIns="0" bIns="0" rtlCol="0" anchor="ctr" anchorCtr="0">
            <a:spAutoFit/>
          </a:bodyPr>
          <a:lstStyle>
            <a:defPPr>
              <a:defRPr lang="ko-KR"/>
            </a:defPPr>
            <a:lvl1pPr marL="182563" indent="-182563" fontAlgn="base">
              <a:spcBef>
                <a:spcPct val="0"/>
              </a:spcBef>
              <a:spcAft>
                <a:spcPct val="0"/>
              </a:spcAft>
              <a:defRPr kumimoji="1" sz="800" b="0">
                <a:solidFill>
                  <a:srgbClr val="006600"/>
                </a:solidFill>
                <a:latin typeface="Arial Narrow" panose="020B0606020202030204" pitchFamily="34" charset="0"/>
                <a:ea typeface="돋움" pitchFamily="50" charset="-127"/>
                <a:cs typeface="Arial" pitchFamily="34" charset="0"/>
              </a:defRPr>
            </a:lvl1pPr>
          </a:lstStyle>
          <a:p>
            <a:pPr marL="182563" marR="0" lvl="0" indent="-182563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9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ea typeface="LG스마트체 Regular" panose="020B0600000101010101" pitchFamily="50" charset="-127"/>
              </a:rPr>
              <a:t>반사율</a:t>
            </a:r>
            <a:r>
              <a:rPr kumimoji="1" lang="en-US" altLang="ko-KR" sz="9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ea typeface="LG스마트체 Regular" panose="020B0600000101010101" pitchFamily="50" charset="-127"/>
              </a:rPr>
              <a:t> 1.7%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67762668-2BD4-5E39-EC30-192E6DA25BAB}"/>
              </a:ext>
            </a:extLst>
          </p:cNvPr>
          <p:cNvSpPr txBox="1"/>
          <p:nvPr/>
        </p:nvSpPr>
        <p:spPr>
          <a:xfrm>
            <a:off x="3215285" y="1609410"/>
            <a:ext cx="548228" cy="13849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wrap="square" lIns="0" tIns="0" rIns="0" bIns="0" rtlCol="0" anchor="ctr" anchorCtr="0">
            <a:spAutoFit/>
          </a:bodyPr>
          <a:lstStyle>
            <a:defPPr>
              <a:defRPr lang="ko-KR"/>
            </a:defPPr>
            <a:lvl1pPr marL="182563" indent="-182563" fontAlgn="base">
              <a:spcBef>
                <a:spcPct val="0"/>
              </a:spcBef>
              <a:spcAft>
                <a:spcPct val="0"/>
              </a:spcAft>
              <a:defRPr kumimoji="1" sz="800" b="0">
                <a:solidFill>
                  <a:srgbClr val="006600"/>
                </a:solidFill>
                <a:latin typeface="Arial Narrow" panose="020B0606020202030204" pitchFamily="34" charset="0"/>
                <a:ea typeface="돋움" pitchFamily="50" charset="-127"/>
                <a:cs typeface="Arial" pitchFamily="34" charset="0"/>
              </a:defRPr>
            </a:lvl1pPr>
          </a:lstStyle>
          <a:p>
            <a:pPr marL="182563" marR="0" lvl="0" indent="-182563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ea typeface="LG스마트체 Regular" panose="020B0600000101010101" pitchFamily="50" charset="-127"/>
              </a:rPr>
              <a:t>반사율</a:t>
            </a:r>
            <a:r>
              <a:rPr kumimoji="1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ea typeface="LG스마트체 Regular" panose="020B0600000101010101" pitchFamily="50" charset="-127"/>
              </a:rPr>
              <a:t> 1.1%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3BDA6295-E8F0-7D8D-CC3B-2AB6EB75F745}"/>
              </a:ext>
            </a:extLst>
          </p:cNvPr>
          <p:cNvSpPr txBox="1"/>
          <p:nvPr/>
        </p:nvSpPr>
        <p:spPr>
          <a:xfrm>
            <a:off x="3215285" y="1079134"/>
            <a:ext cx="548228" cy="13849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wrap="square" lIns="0" tIns="0" rIns="0" bIns="0" rtlCol="0" anchor="ctr" anchorCtr="0">
            <a:spAutoFit/>
          </a:bodyPr>
          <a:lstStyle>
            <a:defPPr>
              <a:defRPr lang="ko-KR"/>
            </a:defPPr>
            <a:lvl1pPr marL="182563" indent="-182563" fontAlgn="base">
              <a:spcBef>
                <a:spcPct val="0"/>
              </a:spcBef>
              <a:spcAft>
                <a:spcPct val="0"/>
              </a:spcAft>
              <a:defRPr kumimoji="1" sz="800" b="0">
                <a:solidFill>
                  <a:srgbClr val="006600"/>
                </a:solidFill>
                <a:latin typeface="Arial Narrow" panose="020B0606020202030204" pitchFamily="34" charset="0"/>
                <a:ea typeface="돋움" pitchFamily="50" charset="-127"/>
                <a:cs typeface="Arial" pitchFamily="34" charset="0"/>
              </a:defRPr>
            </a:lvl1pPr>
          </a:lstStyle>
          <a:p>
            <a:pPr marL="182563" marR="0" lvl="0" indent="-182563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ea typeface="LG스마트체 Regular" panose="020B0600000101010101" pitchFamily="50" charset="-127"/>
              </a:rPr>
              <a:t>반사율 </a:t>
            </a:r>
            <a:r>
              <a:rPr lang="en-US" altLang="ko-KR" sz="900" kern="0" dirty="0">
                <a:ea typeface="LG스마트체 Regular" panose="020B0600000101010101" pitchFamily="50" charset="-127"/>
              </a:rPr>
              <a:t>0.3</a:t>
            </a:r>
            <a:r>
              <a:rPr kumimoji="1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ea typeface="LG스마트체 Regular" panose="020B0600000101010101" pitchFamily="50" charset="-127"/>
              </a:rPr>
              <a:t>%</a:t>
            </a: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E81100DB-CED2-25D3-A0DF-40C5C60CA085}"/>
              </a:ext>
            </a:extLst>
          </p:cNvPr>
          <p:cNvGrpSpPr/>
          <p:nvPr/>
        </p:nvGrpSpPr>
        <p:grpSpPr>
          <a:xfrm>
            <a:off x="10045823" y="504716"/>
            <a:ext cx="1686949" cy="258884"/>
            <a:chOff x="1868943" y="1187719"/>
            <a:chExt cx="1620674" cy="258884"/>
          </a:xfrm>
        </p:grpSpPr>
        <p:sp>
          <p:nvSpPr>
            <p:cNvPr id="27" name="Text Box 41">
              <a:extLst>
                <a:ext uri="{FF2B5EF4-FFF2-40B4-BE49-F238E27FC236}">
                  <a16:creationId xmlns:a16="http://schemas.microsoft.com/office/drawing/2014/main" id="{0C883337-D9FD-2169-06D8-C6D3BFDEDDAC}"/>
                </a:ext>
              </a:extLst>
            </p:cNvPr>
            <p:cNvSpPr txBox="1"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2192635" y="1187719"/>
              <a:ext cx="973297" cy="1846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r>
                <a:rPr kumimoji="1" lang="ko-KR" altLang="en-US" sz="1200" b="1" dirty="0">
                  <a:solidFill>
                    <a:srgbClr val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  <a:cs typeface="Arial" pitchFamily="34" charset="0"/>
                </a:rPr>
                <a:t>포지셔닝 가이드</a:t>
              </a:r>
              <a:endParaRPr kumimoji="1" lang="ko-KR" altLang="en-US" sz="1200" b="1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endParaRPr>
            </a:p>
          </p:txBody>
        </p:sp>
        <p:sp>
          <p:nvSpPr>
            <p:cNvPr id="28" name="Line 8">
              <a:extLst>
                <a:ext uri="{FF2B5EF4-FFF2-40B4-BE49-F238E27FC236}">
                  <a16:creationId xmlns:a16="http://schemas.microsoft.com/office/drawing/2014/main" id="{FC973963-0A4C-0A14-F731-515AC9C3A107}"/>
                </a:ext>
              </a:extLst>
            </p:cNvPr>
            <p:cNvSpPr>
              <a:spLocks noChangeShapeType="1"/>
            </p:cNvSpPr>
            <p:nvPr>
              <p:custDataLst>
                <p:tags r:id="rId4"/>
              </p:custDataLst>
            </p:nvPr>
          </p:nvSpPr>
          <p:spPr bwMode="auto">
            <a:xfrm>
              <a:off x="1868943" y="1446603"/>
              <a:ext cx="1620674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endParaRPr>
            </a:p>
          </p:txBody>
        </p:sp>
      </p:grpSp>
      <p:sp>
        <p:nvSpPr>
          <p:cNvPr id="67" name="Text Box 1787">
            <a:extLst>
              <a:ext uri="{FF2B5EF4-FFF2-40B4-BE49-F238E27FC236}">
                <a16:creationId xmlns:a16="http://schemas.microsoft.com/office/drawing/2014/main" id="{C6D91055-9292-C7C6-C236-6B02DCD44D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31117" y="965812"/>
            <a:ext cx="2317463" cy="2336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58500" tIns="29250" rIns="58500" bIns="29250">
            <a:spAutoFit/>
          </a:bodyPr>
          <a:lstStyle>
            <a:lvl1pPr eaLnBrk="0" hangingPunct="0">
              <a:defRPr kumimoji="1" sz="1200" b="1">
                <a:solidFill>
                  <a:schemeClr val="tx1"/>
                </a:solidFill>
                <a:latin typeface="Arial" charset="0"/>
                <a:ea typeface="돋움" pitchFamily="50" charset="-127"/>
                <a:sym typeface="Wingdings" pitchFamily="2" charset="2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Arial" charset="0"/>
                <a:ea typeface="돋움" pitchFamily="50" charset="-127"/>
                <a:sym typeface="Wingdings" pitchFamily="2" charset="2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Arial" charset="0"/>
                <a:ea typeface="돋움" pitchFamily="50" charset="-127"/>
                <a:sym typeface="Wingdings" pitchFamily="2" charset="2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Arial" charset="0"/>
                <a:ea typeface="돋움" pitchFamily="50" charset="-127"/>
                <a:sym typeface="Wingdings" pitchFamily="2" charset="2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Arial" charset="0"/>
                <a:ea typeface="돋움" pitchFamily="50" charset="-127"/>
                <a:sym typeface="Wingdings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200" b="1">
                <a:solidFill>
                  <a:schemeClr val="tx1"/>
                </a:solidFill>
                <a:latin typeface="Arial" charset="0"/>
                <a:ea typeface="돋움" pitchFamily="50" charset="-127"/>
                <a:sym typeface="Wingdings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200" b="1">
                <a:solidFill>
                  <a:schemeClr val="tx1"/>
                </a:solidFill>
                <a:latin typeface="Arial" charset="0"/>
                <a:ea typeface="돋움" pitchFamily="50" charset="-127"/>
                <a:sym typeface="Wingdings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200" b="1">
                <a:solidFill>
                  <a:schemeClr val="tx1"/>
                </a:solidFill>
                <a:latin typeface="Arial" charset="0"/>
                <a:ea typeface="돋움" pitchFamily="50" charset="-127"/>
                <a:sym typeface="Wingdings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200" b="1">
                <a:solidFill>
                  <a:schemeClr val="tx1"/>
                </a:solidFill>
                <a:latin typeface="Arial" charset="0"/>
                <a:ea typeface="돋움" pitchFamily="50" charset="-127"/>
                <a:sym typeface="Wingdings" pitchFamily="2" charset="2"/>
              </a:defRPr>
            </a:lvl9pPr>
          </a:lstStyle>
          <a:p>
            <a:pPr marL="87750" indent="-146250" defTabSz="742931" eaLnBrk="1" hangingPunct="1">
              <a:lnSpc>
                <a:spcPct val="110000"/>
              </a:lnSpc>
              <a:spcBef>
                <a:spcPts val="244"/>
              </a:spcBef>
              <a:buFont typeface="Wingdings" panose="05000000000000000000" pitchFamily="2" charset="2"/>
              <a:buChar char=""/>
            </a:pPr>
            <a:r>
              <a:rPr lang="en-US" altLang="ko-KR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  OLED</a:t>
            </a:r>
            <a:r>
              <a:rPr lang="ko-KR" altLang="en-US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C / B </a:t>
            </a:r>
            <a:r>
              <a:rPr lang="ko-KR" altLang="en-US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시리즈간 적정 </a:t>
            </a:r>
            <a:r>
              <a:rPr lang="en-US" altLang="ko-KR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Gap </a:t>
            </a:r>
            <a:r>
              <a:rPr lang="ko-KR" altLang="en-US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준수</a:t>
            </a:r>
            <a:endParaRPr lang="en-US" altLang="ko-KR" sz="1100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70" name="사각형: 둥근 모서리 69">
            <a:extLst>
              <a:ext uri="{FF2B5EF4-FFF2-40B4-BE49-F238E27FC236}">
                <a16:creationId xmlns:a16="http://schemas.microsoft.com/office/drawing/2014/main" id="{0B8B1E0E-4000-486A-5582-612D49190623}"/>
              </a:ext>
            </a:extLst>
          </p:cNvPr>
          <p:cNvSpPr/>
          <p:nvPr/>
        </p:nvSpPr>
        <p:spPr>
          <a:xfrm>
            <a:off x="9796817" y="994159"/>
            <a:ext cx="179114" cy="176977"/>
          </a:xfrm>
          <a:prstGeom prst="roundRect">
            <a:avLst/>
          </a:prstGeom>
          <a:solidFill>
            <a:schemeClr val="tx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1</a:t>
            </a:r>
            <a:endParaRPr lang="ko-KR" altLang="en-US" sz="1100" b="1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graphicFrame>
        <p:nvGraphicFramePr>
          <p:cNvPr id="123" name="표 122">
            <a:extLst>
              <a:ext uri="{FF2B5EF4-FFF2-40B4-BE49-F238E27FC236}">
                <a16:creationId xmlns:a16="http://schemas.microsoft.com/office/drawing/2014/main" id="{12F3F373-5A68-A016-80F2-EE3111436785}"/>
              </a:ext>
            </a:extLst>
          </p:cNvPr>
          <p:cNvGraphicFramePr>
            <a:graphicFrameLocks noGrp="1"/>
          </p:cNvGraphicFramePr>
          <p:nvPr/>
        </p:nvGraphicFramePr>
        <p:xfrm>
          <a:off x="3955348" y="2085547"/>
          <a:ext cx="720000" cy="29337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12264047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8237678"/>
                    </a:ext>
                  </a:extLst>
                </a:gridCol>
              </a:tblGrid>
              <a:tr h="5743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144Hz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45.9mm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3802869"/>
                  </a:ext>
                </a:extLst>
              </a:tr>
              <a:tr h="57432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900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550nit</a:t>
                      </a:r>
                      <a:endParaRPr lang="ko-KR" altLang="en-US" sz="9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8423897"/>
                  </a:ext>
                </a:extLst>
              </a:tr>
            </a:tbl>
          </a:graphicData>
        </a:graphic>
      </p:graphicFrame>
      <p:graphicFrame>
        <p:nvGraphicFramePr>
          <p:cNvPr id="124" name="표 123">
            <a:extLst>
              <a:ext uri="{FF2B5EF4-FFF2-40B4-BE49-F238E27FC236}">
                <a16:creationId xmlns:a16="http://schemas.microsoft.com/office/drawing/2014/main" id="{B035DB23-2842-A6EE-5427-5118C3C83AEC}"/>
              </a:ext>
            </a:extLst>
          </p:cNvPr>
          <p:cNvGraphicFramePr>
            <a:graphicFrameLocks noGrp="1"/>
          </p:cNvGraphicFramePr>
          <p:nvPr/>
        </p:nvGraphicFramePr>
        <p:xfrm>
          <a:off x="3955348" y="2796550"/>
          <a:ext cx="720000" cy="29337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12264047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8237678"/>
                    </a:ext>
                  </a:extLst>
                </a:gridCol>
              </a:tblGrid>
              <a:tr h="5743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120Hz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45.9mm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3802869"/>
                  </a:ext>
                </a:extLst>
              </a:tr>
              <a:tr h="57432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900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550nit</a:t>
                      </a:r>
                      <a:endParaRPr lang="ko-KR" altLang="en-US" sz="9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8423897"/>
                  </a:ext>
                </a:extLst>
              </a:tr>
            </a:tbl>
          </a:graphicData>
        </a:graphic>
      </p:graphicFrame>
      <p:sp>
        <p:nvSpPr>
          <p:cNvPr id="138" name="TextBox 137">
            <a:extLst>
              <a:ext uri="{FF2B5EF4-FFF2-40B4-BE49-F238E27FC236}">
                <a16:creationId xmlns:a16="http://schemas.microsoft.com/office/drawing/2014/main" id="{FF3D314B-4ED6-96D8-F676-DC2732883115}"/>
              </a:ext>
            </a:extLst>
          </p:cNvPr>
          <p:cNvSpPr txBox="1"/>
          <p:nvPr/>
        </p:nvSpPr>
        <p:spPr>
          <a:xfrm>
            <a:off x="845307" y="3840227"/>
            <a:ext cx="1205458" cy="13849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wrap="none" lIns="0" tIns="0" rIns="0" bIns="0" rtlCol="0" anchor="ctr" anchorCtr="0">
            <a:spAutoFit/>
          </a:bodyPr>
          <a:lstStyle>
            <a:defPPr>
              <a:defRPr lang="ko-KR"/>
            </a:defPPr>
            <a:lvl1pPr marL="182563" indent="-182563" fontAlgn="base">
              <a:spcBef>
                <a:spcPct val="0"/>
              </a:spcBef>
              <a:spcAft>
                <a:spcPct val="0"/>
              </a:spcAft>
              <a:defRPr kumimoji="1" sz="800" b="0">
                <a:solidFill>
                  <a:srgbClr val="006600"/>
                </a:solidFill>
                <a:latin typeface="Arial Narrow" panose="020B0606020202030204" pitchFamily="34" charset="0"/>
                <a:ea typeface="돋움" pitchFamily="50" charset="-127"/>
                <a:cs typeface="Arial" pitchFamily="34" charset="0"/>
              </a:defRPr>
            </a:lvl1pPr>
          </a:lstStyle>
          <a:p>
            <a:pPr marL="182563" marR="0" lvl="0" indent="-182563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ea typeface="LG스마트체 Regular" panose="020B0600000101010101" pitchFamily="50" charset="-127"/>
              </a:rPr>
              <a:t>[</a:t>
            </a:r>
            <a:r>
              <a:rPr kumimoji="1" lang="ko-KR" altLang="en-US" sz="9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ea typeface="LG스마트체 Regular" panose="020B0600000101010101" pitchFamily="50" charset="-127"/>
              </a:rPr>
              <a:t>지역별 </a:t>
            </a:r>
            <a:r>
              <a:rPr kumimoji="1" lang="en-US" altLang="ko-KR" sz="9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ea typeface="LG스마트체 Regular" panose="020B0600000101010101" pitchFamily="50" charset="-127"/>
              </a:rPr>
              <a:t>OLED </a:t>
            </a:r>
            <a:r>
              <a:rPr kumimoji="1" lang="ko-KR" altLang="en-US" sz="9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ea typeface="LG스마트체 Regular" panose="020B0600000101010101" pitchFamily="50" charset="-127"/>
              </a:rPr>
              <a:t>라인업 현황</a:t>
            </a:r>
            <a:r>
              <a:rPr kumimoji="1" lang="en-US" altLang="ko-KR" sz="9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ea typeface="LG스마트체 Regular" panose="020B0600000101010101" pitchFamily="50" charset="-127"/>
              </a:rPr>
              <a:t>]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7576AAB-80ED-1532-9C32-7688DFABF826}"/>
              </a:ext>
            </a:extLst>
          </p:cNvPr>
          <p:cNvSpPr txBox="1"/>
          <p:nvPr/>
        </p:nvSpPr>
        <p:spPr>
          <a:xfrm>
            <a:off x="6640132" y="5991153"/>
            <a:ext cx="32060" cy="13849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wrap="none" lIns="0" tIns="0" rIns="0" bIns="0" rtlCol="0" anchor="ctr" anchorCtr="0">
            <a:spAutoFit/>
          </a:bodyPr>
          <a:lstStyle>
            <a:defPPr>
              <a:defRPr lang="ko-KR"/>
            </a:defPPr>
            <a:lvl1pPr marL="182563" indent="-182563" fontAlgn="base">
              <a:spcBef>
                <a:spcPct val="0"/>
              </a:spcBef>
              <a:spcAft>
                <a:spcPct val="0"/>
              </a:spcAft>
              <a:defRPr kumimoji="1" sz="800" b="0">
                <a:solidFill>
                  <a:srgbClr val="006600"/>
                </a:solidFill>
                <a:latin typeface="Arial Narrow" panose="020B0606020202030204" pitchFamily="34" charset="0"/>
                <a:ea typeface="돋움" pitchFamily="50" charset="-127"/>
                <a:cs typeface="Arial" pitchFamily="34" charset="0"/>
              </a:defRPr>
            </a:lvl1pPr>
          </a:lstStyle>
          <a:p>
            <a:pPr marL="182563" marR="0" lvl="0" indent="-182563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900" kern="0" dirty="0">
                <a:solidFill>
                  <a:srgbClr val="7030A0"/>
                </a:solidFill>
                <a:ea typeface="LG스마트체 Regular" panose="020B0600000101010101" pitchFamily="50" charset="-127"/>
              </a:rPr>
              <a:t>-</a:t>
            </a:r>
            <a:endParaRPr kumimoji="1" lang="en-US" altLang="ko-KR" sz="900" b="0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ea typeface="LG스마트체 Regular" panose="020B0600000101010101" pitchFamily="50" charset="-127"/>
            </a:endParaRPr>
          </a:p>
        </p:txBody>
      </p:sp>
      <p:grpSp>
        <p:nvGrpSpPr>
          <p:cNvPr id="149" name="그룹 148">
            <a:extLst>
              <a:ext uri="{FF2B5EF4-FFF2-40B4-BE49-F238E27FC236}">
                <a16:creationId xmlns:a16="http://schemas.microsoft.com/office/drawing/2014/main" id="{790C18C8-3E7A-82A0-2907-E13C2755CE21}"/>
              </a:ext>
            </a:extLst>
          </p:cNvPr>
          <p:cNvGrpSpPr/>
          <p:nvPr/>
        </p:nvGrpSpPr>
        <p:grpSpPr>
          <a:xfrm>
            <a:off x="6463395" y="504716"/>
            <a:ext cx="2041208" cy="258884"/>
            <a:chOff x="1600722" y="1187719"/>
            <a:chExt cx="2157118" cy="258884"/>
          </a:xfrm>
        </p:grpSpPr>
        <p:sp>
          <p:nvSpPr>
            <p:cNvPr id="150" name="Text Box 41">
              <a:extLst>
                <a:ext uri="{FF2B5EF4-FFF2-40B4-BE49-F238E27FC236}">
                  <a16:creationId xmlns:a16="http://schemas.microsoft.com/office/drawing/2014/main" id="{396A5762-A207-B8E5-E1DB-FC7A8CC13842}"/>
                </a:ext>
              </a:extLst>
            </p:cNvPr>
            <p:cNvSpPr txBox="1"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2337934" y="1187719"/>
              <a:ext cx="682695" cy="1846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lvl="0" algn="ctr" fontAlgn="base">
                <a:spcBef>
                  <a:spcPct val="20000"/>
                </a:spcBef>
                <a:spcAft>
                  <a:spcPct val="0"/>
                </a:spcAft>
                <a:defRPr/>
              </a:pPr>
              <a:r>
                <a:rPr kumimoji="1" lang="en-US" altLang="ko-KR" sz="1200" b="1" dirty="0">
                  <a:solidFill>
                    <a:srgbClr val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  <a:cs typeface="Arial" pitchFamily="34" charset="0"/>
                </a:rPr>
                <a:t>Back Light</a:t>
              </a:r>
              <a:endParaRPr kumimoji="1" lang="ko-KR" altLang="en-US" sz="1200" b="1" baseline="300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endParaRPr>
            </a:p>
          </p:txBody>
        </p:sp>
        <p:sp>
          <p:nvSpPr>
            <p:cNvPr id="151" name="Line 8">
              <a:extLst>
                <a:ext uri="{FF2B5EF4-FFF2-40B4-BE49-F238E27FC236}">
                  <a16:creationId xmlns:a16="http://schemas.microsoft.com/office/drawing/2014/main" id="{758619FE-BA44-EB07-25CD-92B3EA7CD886}"/>
                </a:ext>
              </a:extLst>
            </p:cNvPr>
            <p:cNvSpPr>
              <a:spLocks noChangeShapeType="1"/>
            </p:cNvSpPr>
            <p:nvPr>
              <p:custDataLst>
                <p:tags r:id="rId2"/>
              </p:custDataLst>
            </p:nvPr>
          </p:nvSpPr>
          <p:spPr bwMode="auto">
            <a:xfrm>
              <a:off x="1600722" y="1446603"/>
              <a:ext cx="2157118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endParaRPr>
            </a:p>
          </p:txBody>
        </p:sp>
      </p:grpSp>
      <p:sp>
        <p:nvSpPr>
          <p:cNvPr id="152" name="AutoShape 9">
            <a:extLst>
              <a:ext uri="{FF2B5EF4-FFF2-40B4-BE49-F238E27FC236}">
                <a16:creationId xmlns:a16="http://schemas.microsoft.com/office/drawing/2014/main" id="{17A60B68-1FF8-AA30-67E7-FB25592B2C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8716" y="891810"/>
            <a:ext cx="445156" cy="1193737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3175" algn="ctr">
            <a:solidFill>
              <a:srgbClr val="5F5F5F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119693" tIns="59844" rIns="119693" bIns="59844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sym typeface="Wingdings" pitchFamily="2" charset="2"/>
              </a:rPr>
              <a:t>MRGB</a:t>
            </a:r>
            <a:endParaRPr kumimoji="1" lang="en-US" altLang="ko-KR" sz="1200" b="1" kern="0" dirty="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  <a:sym typeface="Wingdings" pitchFamily="2" charset="2"/>
            </a:endParaRPr>
          </a:p>
        </p:txBody>
      </p:sp>
      <p:sp>
        <p:nvSpPr>
          <p:cNvPr id="156" name="AutoShape 9">
            <a:extLst>
              <a:ext uri="{FF2B5EF4-FFF2-40B4-BE49-F238E27FC236}">
                <a16:creationId xmlns:a16="http://schemas.microsoft.com/office/drawing/2014/main" id="{E4F72409-7BA5-2991-862A-BED3D611FC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8716" y="5651974"/>
            <a:ext cx="445156" cy="397281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3175" algn="ctr">
            <a:solidFill>
              <a:srgbClr val="5F5F5F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119693" tIns="59844" rIns="119693" bIns="59844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1" kern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itchFamily="2" charset="2"/>
              </a:rPr>
              <a:t>UHD</a:t>
            </a:r>
            <a:endParaRPr kumimoji="1" lang="ko-KR" altLang="en-US" sz="1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sym typeface="Wingdings" pitchFamily="2" charset="2"/>
            </a:endParaRPr>
          </a:p>
        </p:txBody>
      </p:sp>
      <p:cxnSp>
        <p:nvCxnSpPr>
          <p:cNvPr id="264" name="직선 화살표 연결선 263">
            <a:extLst>
              <a:ext uri="{FF2B5EF4-FFF2-40B4-BE49-F238E27FC236}">
                <a16:creationId xmlns:a16="http://schemas.microsoft.com/office/drawing/2014/main" id="{6763D40F-6E31-3616-F231-0666EBBB6A99}"/>
              </a:ext>
            </a:extLst>
          </p:cNvPr>
          <p:cNvCxnSpPr>
            <a:cxnSpLocks/>
          </p:cNvCxnSpPr>
          <p:nvPr/>
        </p:nvCxnSpPr>
        <p:spPr>
          <a:xfrm>
            <a:off x="2361677" y="960303"/>
            <a:ext cx="715302" cy="0"/>
          </a:xfrm>
          <a:prstGeom prst="straightConnector1">
            <a:avLst/>
          </a:prstGeom>
          <a:ln w="34925">
            <a:solidFill>
              <a:schemeClr val="bg1">
                <a:lumMod val="85000"/>
              </a:schemeClr>
            </a:solidFill>
            <a:headEnd type="triangle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5" name="타원 264">
            <a:extLst>
              <a:ext uri="{FF2B5EF4-FFF2-40B4-BE49-F238E27FC236}">
                <a16:creationId xmlns:a16="http://schemas.microsoft.com/office/drawing/2014/main" id="{B8373F5E-1B48-5355-5076-0197861FD571}"/>
              </a:ext>
            </a:extLst>
          </p:cNvPr>
          <p:cNvSpPr/>
          <p:nvPr/>
        </p:nvSpPr>
        <p:spPr>
          <a:xfrm>
            <a:off x="2551189" y="860544"/>
            <a:ext cx="349284" cy="209409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100" i="1" dirty="0">
                <a:solidFill>
                  <a:schemeClr val="bg1"/>
                </a:solidFill>
                <a:latin typeface="Arial Narrow" panose="020B0606020202030204" pitchFamily="34" charset="0"/>
              </a:rPr>
              <a:t>100</a:t>
            </a:r>
            <a:endParaRPr lang="ko-KR" altLang="en-US" sz="1100" i="1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cxnSp>
        <p:nvCxnSpPr>
          <p:cNvPr id="266" name="직선 화살표 연결선 265">
            <a:extLst>
              <a:ext uri="{FF2B5EF4-FFF2-40B4-BE49-F238E27FC236}">
                <a16:creationId xmlns:a16="http://schemas.microsoft.com/office/drawing/2014/main" id="{3EF38C4E-B54D-38CD-2FC5-91831DEC8D0C}"/>
              </a:ext>
            </a:extLst>
          </p:cNvPr>
          <p:cNvCxnSpPr>
            <a:cxnSpLocks/>
          </p:cNvCxnSpPr>
          <p:nvPr/>
        </p:nvCxnSpPr>
        <p:spPr>
          <a:xfrm>
            <a:off x="2361677" y="1491834"/>
            <a:ext cx="715302" cy="0"/>
          </a:xfrm>
          <a:prstGeom prst="straightConnector1">
            <a:avLst/>
          </a:prstGeom>
          <a:ln w="34925">
            <a:solidFill>
              <a:schemeClr val="bg1">
                <a:lumMod val="85000"/>
              </a:schemeClr>
            </a:solidFill>
            <a:headEnd type="triangle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7" name="타원 266">
            <a:extLst>
              <a:ext uri="{FF2B5EF4-FFF2-40B4-BE49-F238E27FC236}">
                <a16:creationId xmlns:a16="http://schemas.microsoft.com/office/drawing/2014/main" id="{007FDCF9-D0DC-9483-5521-2CFFD4E0FE04}"/>
              </a:ext>
            </a:extLst>
          </p:cNvPr>
          <p:cNvSpPr/>
          <p:nvPr/>
        </p:nvSpPr>
        <p:spPr>
          <a:xfrm>
            <a:off x="2551189" y="1392075"/>
            <a:ext cx="349284" cy="209409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100" i="1" dirty="0">
                <a:solidFill>
                  <a:schemeClr val="bg1"/>
                </a:solidFill>
                <a:latin typeface="Arial Narrow" panose="020B0606020202030204" pitchFamily="34" charset="0"/>
              </a:rPr>
              <a:t>100</a:t>
            </a:r>
            <a:endParaRPr lang="ko-KR" altLang="en-US" sz="1100" i="1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cxnSp>
        <p:nvCxnSpPr>
          <p:cNvPr id="268" name="직선 화살표 연결선 267">
            <a:extLst>
              <a:ext uri="{FF2B5EF4-FFF2-40B4-BE49-F238E27FC236}">
                <a16:creationId xmlns:a16="http://schemas.microsoft.com/office/drawing/2014/main" id="{0D8311B7-EE6E-EEB3-47CC-6992244EDE48}"/>
              </a:ext>
            </a:extLst>
          </p:cNvPr>
          <p:cNvCxnSpPr>
            <a:cxnSpLocks/>
          </p:cNvCxnSpPr>
          <p:nvPr/>
        </p:nvCxnSpPr>
        <p:spPr>
          <a:xfrm>
            <a:off x="2361677" y="2930611"/>
            <a:ext cx="715302" cy="0"/>
          </a:xfrm>
          <a:prstGeom prst="straightConnector1">
            <a:avLst/>
          </a:prstGeom>
          <a:ln w="34925">
            <a:solidFill>
              <a:schemeClr val="bg1">
                <a:lumMod val="85000"/>
              </a:schemeClr>
            </a:solidFill>
            <a:headEnd type="triangle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9" name="타원 268">
            <a:extLst>
              <a:ext uri="{FF2B5EF4-FFF2-40B4-BE49-F238E27FC236}">
                <a16:creationId xmlns:a16="http://schemas.microsoft.com/office/drawing/2014/main" id="{7EA45EA3-B4D3-422B-B74D-85852FF640AA}"/>
              </a:ext>
            </a:extLst>
          </p:cNvPr>
          <p:cNvSpPr/>
          <p:nvPr/>
        </p:nvSpPr>
        <p:spPr>
          <a:xfrm>
            <a:off x="2551189" y="2853528"/>
            <a:ext cx="349284" cy="209409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100" i="1" dirty="0">
                <a:solidFill>
                  <a:schemeClr val="bg1"/>
                </a:solidFill>
                <a:latin typeface="Arial Narrow" panose="020B0606020202030204" pitchFamily="34" charset="0"/>
              </a:rPr>
              <a:t>100</a:t>
            </a:r>
            <a:endParaRPr lang="ko-KR" altLang="en-US" sz="1100" i="1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pic>
        <p:nvPicPr>
          <p:cNvPr id="285" name="그림 284">
            <a:extLst>
              <a:ext uri="{FF2B5EF4-FFF2-40B4-BE49-F238E27FC236}">
                <a16:creationId xmlns:a16="http://schemas.microsoft.com/office/drawing/2014/main" id="{4A0DA1AC-08C8-CE51-964F-1908B6158F60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5397" y="4188886"/>
            <a:ext cx="1420508" cy="918950"/>
          </a:xfrm>
          <a:prstGeom prst="rect">
            <a:avLst/>
          </a:prstGeom>
        </p:spPr>
      </p:pic>
      <p:pic>
        <p:nvPicPr>
          <p:cNvPr id="287" name="그림 286">
            <a:extLst>
              <a:ext uri="{FF2B5EF4-FFF2-40B4-BE49-F238E27FC236}">
                <a16:creationId xmlns:a16="http://schemas.microsoft.com/office/drawing/2014/main" id="{C6C59E09-9CE7-6059-1031-849D4DEA7E3D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8529" y="5590976"/>
            <a:ext cx="1483179" cy="942089"/>
          </a:xfrm>
          <a:prstGeom prst="rect">
            <a:avLst/>
          </a:prstGeom>
        </p:spPr>
      </p:pic>
      <p:pic>
        <p:nvPicPr>
          <p:cNvPr id="289" name="그림 288">
            <a:extLst>
              <a:ext uri="{FF2B5EF4-FFF2-40B4-BE49-F238E27FC236}">
                <a16:creationId xmlns:a16="http://schemas.microsoft.com/office/drawing/2014/main" id="{8CAF6E89-B965-ADB6-F91C-CB343E2DFAD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507130" y="4011527"/>
            <a:ext cx="986928" cy="1007705"/>
          </a:xfrm>
          <a:prstGeom prst="rect">
            <a:avLst/>
          </a:prstGeom>
        </p:spPr>
      </p:pic>
      <p:sp>
        <p:nvSpPr>
          <p:cNvPr id="292" name="TextBox 291">
            <a:extLst>
              <a:ext uri="{FF2B5EF4-FFF2-40B4-BE49-F238E27FC236}">
                <a16:creationId xmlns:a16="http://schemas.microsoft.com/office/drawing/2014/main" id="{A6AC074C-94F8-A9B2-22DF-D84968A7AE2C}"/>
              </a:ext>
            </a:extLst>
          </p:cNvPr>
          <p:cNvSpPr txBox="1"/>
          <p:nvPr/>
        </p:nvSpPr>
        <p:spPr>
          <a:xfrm>
            <a:off x="3407790" y="4200846"/>
            <a:ext cx="201978" cy="13849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wrap="none" lIns="0" tIns="0" rIns="0" bIns="0" rtlCol="0" anchor="ctr" anchorCtr="0">
            <a:spAutoFit/>
          </a:bodyPr>
          <a:lstStyle>
            <a:defPPr>
              <a:defRPr lang="ko-KR"/>
            </a:defPPr>
            <a:lvl1pPr marL="182563" indent="-182563" fontAlgn="base">
              <a:spcBef>
                <a:spcPct val="0"/>
              </a:spcBef>
              <a:spcAft>
                <a:spcPct val="0"/>
              </a:spcAft>
              <a:defRPr kumimoji="1" sz="800" b="0">
                <a:solidFill>
                  <a:srgbClr val="006600"/>
                </a:solidFill>
                <a:latin typeface="Arial Narrow" panose="020B0606020202030204" pitchFamily="34" charset="0"/>
                <a:ea typeface="돋움" pitchFamily="50" charset="-127"/>
                <a:cs typeface="Arial" pitchFamily="34" charset="0"/>
              </a:defRPr>
            </a:lvl1pPr>
          </a:lstStyle>
          <a:p>
            <a:pPr marL="182563" marR="0" lvl="0" indent="-182563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9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ea typeface="LG스마트체 Regular" panose="020B0600000101010101" pitchFamily="50" charset="-127"/>
              </a:rPr>
              <a:t>유럽</a:t>
            </a:r>
            <a:endParaRPr kumimoji="1" lang="en-US" altLang="ko-KR" sz="9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ea typeface="LG스마트체 Regular" panose="020B0600000101010101" pitchFamily="50" charset="-127"/>
            </a:endParaRPr>
          </a:p>
        </p:txBody>
      </p:sp>
      <p:sp>
        <p:nvSpPr>
          <p:cNvPr id="298" name="TextBox 297">
            <a:extLst>
              <a:ext uri="{FF2B5EF4-FFF2-40B4-BE49-F238E27FC236}">
                <a16:creationId xmlns:a16="http://schemas.microsoft.com/office/drawing/2014/main" id="{7CAA78CA-0D36-7EB6-A544-DB10CAC7797C}"/>
              </a:ext>
            </a:extLst>
          </p:cNvPr>
          <p:cNvSpPr txBox="1"/>
          <p:nvPr/>
        </p:nvSpPr>
        <p:spPr>
          <a:xfrm>
            <a:off x="4192390" y="4200846"/>
            <a:ext cx="302967" cy="13849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wrap="none" lIns="0" tIns="0" rIns="0" bIns="0" rtlCol="0" anchor="ctr" anchorCtr="0">
            <a:spAutoFit/>
          </a:bodyPr>
          <a:lstStyle>
            <a:defPPr>
              <a:defRPr lang="ko-KR"/>
            </a:defPPr>
            <a:lvl1pPr marL="182563" indent="-182563" fontAlgn="base">
              <a:spcBef>
                <a:spcPct val="0"/>
              </a:spcBef>
              <a:spcAft>
                <a:spcPct val="0"/>
              </a:spcAft>
              <a:defRPr kumimoji="1" sz="800" b="0">
                <a:solidFill>
                  <a:srgbClr val="006600"/>
                </a:solidFill>
                <a:latin typeface="Arial Narrow" panose="020B0606020202030204" pitchFamily="34" charset="0"/>
                <a:ea typeface="돋움" pitchFamily="50" charset="-127"/>
                <a:cs typeface="Arial" pitchFamily="34" charset="0"/>
              </a:defRPr>
            </a:lvl1pPr>
          </a:lstStyle>
          <a:p>
            <a:pPr marL="182563" marR="0" lvl="0" indent="-182563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9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ea typeface="LG스마트체 Regular" panose="020B0600000101010101" pitchFamily="50" charset="-127"/>
              </a:rPr>
              <a:t>글로벌</a:t>
            </a:r>
            <a:endParaRPr kumimoji="1" lang="en-US" altLang="ko-KR" sz="9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ea typeface="LG스마트체 Regular" panose="020B0600000101010101" pitchFamily="50" charset="-127"/>
            </a:endParaRPr>
          </a:p>
        </p:txBody>
      </p:sp>
      <p:sp>
        <p:nvSpPr>
          <p:cNvPr id="299" name="직사각형 298">
            <a:hlinkClick r:id="" action="ppaction://noaction"/>
            <a:extLst>
              <a:ext uri="{FF2B5EF4-FFF2-40B4-BE49-F238E27FC236}">
                <a16:creationId xmlns:a16="http://schemas.microsoft.com/office/drawing/2014/main" id="{82EE4015-20D7-8DAC-0149-2CBDF20087EF}"/>
              </a:ext>
            </a:extLst>
          </p:cNvPr>
          <p:cNvSpPr/>
          <p:nvPr/>
        </p:nvSpPr>
        <p:spPr>
          <a:xfrm>
            <a:off x="4136726" y="4541453"/>
            <a:ext cx="414295" cy="170852"/>
          </a:xfrm>
          <a:prstGeom prst="rect">
            <a:avLst/>
          </a:prstGeom>
          <a:solidFill>
            <a:srgbClr val="0000FF"/>
          </a:solidFill>
          <a:ln w="3175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45714" rIns="0" bIns="45714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S95H</a:t>
            </a:r>
            <a:endParaRPr kumimoji="1" lang="ko-KR" altLang="en-US" sz="9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02" name="직사각형 301">
            <a:hlinkClick r:id="" action="ppaction://noaction"/>
            <a:extLst>
              <a:ext uri="{FF2B5EF4-FFF2-40B4-BE49-F238E27FC236}">
                <a16:creationId xmlns:a16="http://schemas.microsoft.com/office/drawing/2014/main" id="{6F0F6B7D-EB81-0840-7FAB-AF07B9E252D3}"/>
              </a:ext>
            </a:extLst>
          </p:cNvPr>
          <p:cNvSpPr/>
          <p:nvPr/>
        </p:nvSpPr>
        <p:spPr>
          <a:xfrm>
            <a:off x="3301632" y="4541453"/>
            <a:ext cx="414295" cy="170852"/>
          </a:xfrm>
          <a:prstGeom prst="rect">
            <a:avLst/>
          </a:prstGeom>
          <a:solidFill>
            <a:srgbClr val="0000FF"/>
          </a:solidFill>
          <a:ln w="3175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45714" rIns="0" bIns="45714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S9</a:t>
            </a:r>
            <a:r>
              <a:rPr kumimoji="1" lang="en-US" altLang="ko-KR" sz="900" b="1" kern="0" dirty="0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9</a:t>
            </a:r>
            <a:r>
              <a:rPr kumimoji="1" lang="en-US" altLang="ko-KR" sz="9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H</a:t>
            </a:r>
            <a:endParaRPr kumimoji="1" lang="ko-KR" altLang="en-US" sz="9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03" name="직사각형 302">
            <a:hlinkClick r:id="" action="ppaction://noaction"/>
            <a:extLst>
              <a:ext uri="{FF2B5EF4-FFF2-40B4-BE49-F238E27FC236}">
                <a16:creationId xmlns:a16="http://schemas.microsoft.com/office/drawing/2014/main" id="{99F6DB84-1EAF-F6AC-6750-787CB3BA0D95}"/>
              </a:ext>
            </a:extLst>
          </p:cNvPr>
          <p:cNvSpPr/>
          <p:nvPr/>
        </p:nvSpPr>
        <p:spPr>
          <a:xfrm>
            <a:off x="3301632" y="4911627"/>
            <a:ext cx="414295" cy="170852"/>
          </a:xfrm>
          <a:prstGeom prst="rect">
            <a:avLst/>
          </a:prstGeom>
          <a:solidFill>
            <a:srgbClr val="0000FF"/>
          </a:solidFill>
          <a:ln w="3175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45714" rIns="0" bIns="45714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S95H</a:t>
            </a:r>
            <a:endParaRPr kumimoji="1" lang="ko-KR" altLang="en-US" sz="9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04" name="직사각형 303">
            <a:hlinkClick r:id="" action="ppaction://noaction"/>
            <a:extLst>
              <a:ext uri="{FF2B5EF4-FFF2-40B4-BE49-F238E27FC236}">
                <a16:creationId xmlns:a16="http://schemas.microsoft.com/office/drawing/2014/main" id="{4012B5B8-16EF-80F8-6AD9-5B245A03ABA9}"/>
              </a:ext>
            </a:extLst>
          </p:cNvPr>
          <p:cNvSpPr/>
          <p:nvPr/>
        </p:nvSpPr>
        <p:spPr>
          <a:xfrm>
            <a:off x="3301632" y="5651974"/>
            <a:ext cx="414295" cy="170852"/>
          </a:xfrm>
          <a:prstGeom prst="rect">
            <a:avLst/>
          </a:prstGeom>
          <a:solidFill>
            <a:srgbClr val="0000FF"/>
          </a:solidFill>
          <a:ln w="3175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45714" rIns="0" bIns="45714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S85H</a:t>
            </a:r>
            <a:endParaRPr kumimoji="1" lang="ko-KR" altLang="en-US" sz="9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06" name="직사각형 305">
            <a:hlinkClick r:id="" action="ppaction://noaction"/>
            <a:extLst>
              <a:ext uri="{FF2B5EF4-FFF2-40B4-BE49-F238E27FC236}">
                <a16:creationId xmlns:a16="http://schemas.microsoft.com/office/drawing/2014/main" id="{1390C2F4-1193-4FD0-B05F-696D9ABEB345}"/>
              </a:ext>
            </a:extLst>
          </p:cNvPr>
          <p:cNvSpPr/>
          <p:nvPr/>
        </p:nvSpPr>
        <p:spPr>
          <a:xfrm>
            <a:off x="3301632" y="5281801"/>
            <a:ext cx="414295" cy="170852"/>
          </a:xfrm>
          <a:prstGeom prst="rect">
            <a:avLst/>
          </a:prstGeom>
          <a:solidFill>
            <a:srgbClr val="0000FF"/>
          </a:solidFill>
          <a:ln w="3175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45714" rIns="0" bIns="45714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S90H</a:t>
            </a:r>
            <a:endParaRPr kumimoji="1" lang="ko-KR" altLang="en-US" sz="9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07" name="직사각형 306">
            <a:hlinkClick r:id="" action="ppaction://noaction"/>
            <a:extLst>
              <a:ext uri="{FF2B5EF4-FFF2-40B4-BE49-F238E27FC236}">
                <a16:creationId xmlns:a16="http://schemas.microsoft.com/office/drawing/2014/main" id="{9425AB31-E535-B971-56E6-F27FFEA443C8}"/>
              </a:ext>
            </a:extLst>
          </p:cNvPr>
          <p:cNvSpPr/>
          <p:nvPr/>
        </p:nvSpPr>
        <p:spPr>
          <a:xfrm>
            <a:off x="4136726" y="5651974"/>
            <a:ext cx="414295" cy="170852"/>
          </a:xfrm>
          <a:prstGeom prst="rect">
            <a:avLst/>
          </a:prstGeom>
          <a:solidFill>
            <a:srgbClr val="0000FF"/>
          </a:solidFill>
          <a:ln w="3175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45714" rIns="0" bIns="45714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S85H</a:t>
            </a:r>
            <a:endParaRPr kumimoji="1" lang="ko-KR" altLang="en-US" sz="9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08" name="직사각형 307">
            <a:hlinkClick r:id="" action="ppaction://noaction"/>
            <a:extLst>
              <a:ext uri="{FF2B5EF4-FFF2-40B4-BE49-F238E27FC236}">
                <a16:creationId xmlns:a16="http://schemas.microsoft.com/office/drawing/2014/main" id="{177337D1-3E07-3EF6-2080-69BCD20A531F}"/>
              </a:ext>
            </a:extLst>
          </p:cNvPr>
          <p:cNvSpPr/>
          <p:nvPr/>
        </p:nvSpPr>
        <p:spPr>
          <a:xfrm>
            <a:off x="4136726" y="5281801"/>
            <a:ext cx="414295" cy="170852"/>
          </a:xfrm>
          <a:prstGeom prst="rect">
            <a:avLst/>
          </a:prstGeom>
          <a:solidFill>
            <a:srgbClr val="0000FF"/>
          </a:solidFill>
          <a:ln w="3175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45714" rIns="0" bIns="45714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S90H</a:t>
            </a:r>
            <a:endParaRPr kumimoji="1" lang="ko-KR" altLang="en-US" sz="9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09" name="TextBox 308">
            <a:extLst>
              <a:ext uri="{FF2B5EF4-FFF2-40B4-BE49-F238E27FC236}">
                <a16:creationId xmlns:a16="http://schemas.microsoft.com/office/drawing/2014/main" id="{2403B571-1AFB-5659-EEE1-FB244ECE5884}"/>
              </a:ext>
            </a:extLst>
          </p:cNvPr>
          <p:cNvSpPr txBox="1"/>
          <p:nvPr/>
        </p:nvSpPr>
        <p:spPr>
          <a:xfrm>
            <a:off x="3166542" y="4740552"/>
            <a:ext cx="684483" cy="13849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wrap="none" lIns="0" tIns="0" rIns="0" bIns="0" rtlCol="0" anchor="ctr" anchorCtr="0">
            <a:spAutoFit/>
          </a:bodyPr>
          <a:lstStyle>
            <a:defPPr>
              <a:defRPr lang="ko-KR"/>
            </a:defPPr>
            <a:lvl1pPr marL="182563" indent="-182563" fontAlgn="base">
              <a:spcBef>
                <a:spcPct val="0"/>
              </a:spcBef>
              <a:spcAft>
                <a:spcPct val="0"/>
              </a:spcAft>
              <a:defRPr kumimoji="1" sz="800" b="0">
                <a:solidFill>
                  <a:srgbClr val="006600"/>
                </a:solidFill>
                <a:latin typeface="Arial Narrow" panose="020B0606020202030204" pitchFamily="34" charset="0"/>
                <a:ea typeface="돋움" pitchFamily="50" charset="-127"/>
                <a:cs typeface="Arial" pitchFamily="34" charset="0"/>
              </a:defRPr>
            </a:lvl1pPr>
          </a:lstStyle>
          <a:p>
            <a:pPr marL="182563" marR="0" lvl="0" indent="-182563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ea typeface="LG스마트체 Regular" panose="020B0600000101010101" pitchFamily="50" charset="-127"/>
              </a:rPr>
              <a:t>Floating Design</a:t>
            </a:r>
          </a:p>
        </p:txBody>
      </p:sp>
      <p:sp>
        <p:nvSpPr>
          <p:cNvPr id="310" name="TextBox 309">
            <a:extLst>
              <a:ext uri="{FF2B5EF4-FFF2-40B4-BE49-F238E27FC236}">
                <a16:creationId xmlns:a16="http://schemas.microsoft.com/office/drawing/2014/main" id="{9E947114-18F8-5FF3-CF71-5607126EAA78}"/>
              </a:ext>
            </a:extLst>
          </p:cNvPr>
          <p:cNvSpPr txBox="1"/>
          <p:nvPr/>
        </p:nvSpPr>
        <p:spPr>
          <a:xfrm>
            <a:off x="3186578" y="5114687"/>
            <a:ext cx="644408" cy="13849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wrap="none" lIns="0" tIns="0" rIns="0" bIns="0" rtlCol="0" anchor="ctr" anchorCtr="0">
            <a:spAutoFit/>
          </a:bodyPr>
          <a:lstStyle>
            <a:defPPr>
              <a:defRPr lang="ko-KR"/>
            </a:defPPr>
            <a:lvl1pPr marL="182563" indent="-182563" fontAlgn="base">
              <a:spcBef>
                <a:spcPct val="0"/>
              </a:spcBef>
              <a:spcAft>
                <a:spcPct val="0"/>
              </a:spcAft>
              <a:defRPr kumimoji="1" sz="800" b="0">
                <a:solidFill>
                  <a:srgbClr val="006600"/>
                </a:solidFill>
                <a:latin typeface="Arial Narrow" panose="020B0606020202030204" pitchFamily="34" charset="0"/>
                <a:ea typeface="돋움" pitchFamily="50" charset="-127"/>
                <a:cs typeface="Arial" pitchFamily="34" charset="0"/>
              </a:defRPr>
            </a:lvl1pPr>
          </a:lstStyle>
          <a:p>
            <a:pPr marL="182563" marR="0" lvl="0" indent="-182563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ea typeface="LG스마트체 Regular" panose="020B0600000101010101" pitchFamily="50" charset="-127"/>
              </a:rPr>
              <a:t>S95F Tool C/O</a:t>
            </a:r>
          </a:p>
        </p:txBody>
      </p:sp>
      <p:sp>
        <p:nvSpPr>
          <p:cNvPr id="311" name="TextBox 310">
            <a:extLst>
              <a:ext uri="{FF2B5EF4-FFF2-40B4-BE49-F238E27FC236}">
                <a16:creationId xmlns:a16="http://schemas.microsoft.com/office/drawing/2014/main" id="{E20BAD77-D7AC-84B2-DF40-DF51A7A43B79}"/>
              </a:ext>
            </a:extLst>
          </p:cNvPr>
          <p:cNvSpPr txBox="1"/>
          <p:nvPr/>
        </p:nvSpPr>
        <p:spPr>
          <a:xfrm>
            <a:off x="4003682" y="4751951"/>
            <a:ext cx="658835" cy="13849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wrap="none" lIns="0" tIns="0" rIns="0" bIns="0" rtlCol="0" anchor="ctr" anchorCtr="0">
            <a:spAutoFit/>
          </a:bodyPr>
          <a:lstStyle>
            <a:defPPr>
              <a:defRPr lang="ko-KR"/>
            </a:defPPr>
            <a:lvl1pPr marL="182563" indent="-182563" fontAlgn="base">
              <a:spcBef>
                <a:spcPct val="0"/>
              </a:spcBef>
              <a:spcAft>
                <a:spcPct val="0"/>
              </a:spcAft>
              <a:defRPr kumimoji="1" sz="800" b="0">
                <a:solidFill>
                  <a:srgbClr val="006600"/>
                </a:solidFill>
                <a:latin typeface="Arial Narrow" panose="020B0606020202030204" pitchFamily="34" charset="0"/>
                <a:ea typeface="돋움" pitchFamily="50" charset="-127"/>
                <a:cs typeface="Arial" pitchFamily="34" charset="0"/>
              </a:defRPr>
            </a:lvl1pPr>
          </a:lstStyle>
          <a:p>
            <a:pPr lvl="0" algn="ctr" latinLnBrk="0">
              <a:defRPr/>
            </a:pPr>
            <a:r>
              <a:rPr lang="en-US" altLang="ko-KR" sz="900" kern="0" dirty="0">
                <a:solidFill>
                  <a:schemeClr val="tx1">
                    <a:lumMod val="75000"/>
                    <a:lumOff val="25000"/>
                  </a:schemeClr>
                </a:solidFill>
                <a:ea typeface="LG스마트체 Regular" panose="020B0600000101010101" pitchFamily="50" charset="-127"/>
              </a:rPr>
              <a:t>Floating Design</a:t>
            </a:r>
          </a:p>
        </p:txBody>
      </p:sp>
      <p:sp>
        <p:nvSpPr>
          <p:cNvPr id="313" name="TextBox 312">
            <a:extLst>
              <a:ext uri="{FF2B5EF4-FFF2-40B4-BE49-F238E27FC236}">
                <a16:creationId xmlns:a16="http://schemas.microsoft.com/office/drawing/2014/main" id="{BDB755AB-9B3E-A62E-B802-3CDEE401DC55}"/>
              </a:ext>
            </a:extLst>
          </p:cNvPr>
          <p:cNvSpPr txBox="1"/>
          <p:nvPr/>
        </p:nvSpPr>
        <p:spPr>
          <a:xfrm>
            <a:off x="3285163" y="5476053"/>
            <a:ext cx="447237" cy="13849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wrap="none" lIns="0" tIns="0" rIns="0" bIns="0" rtlCol="0" anchor="ctr" anchorCtr="0">
            <a:spAutoFit/>
          </a:bodyPr>
          <a:lstStyle>
            <a:defPPr>
              <a:defRPr lang="ko-KR"/>
            </a:defPPr>
            <a:lvl1pPr marL="182563" indent="-182563" fontAlgn="base">
              <a:spcBef>
                <a:spcPct val="0"/>
              </a:spcBef>
              <a:spcAft>
                <a:spcPct val="0"/>
              </a:spcAft>
              <a:defRPr kumimoji="1" sz="800" b="0">
                <a:solidFill>
                  <a:srgbClr val="006600"/>
                </a:solidFill>
                <a:latin typeface="Arial Narrow" panose="020B0606020202030204" pitchFamily="34" charset="0"/>
                <a:ea typeface="돋움" pitchFamily="50" charset="-127"/>
                <a:cs typeface="Arial" pitchFamily="34" charset="0"/>
              </a:defRPr>
            </a:lvl1pPr>
          </a:lstStyle>
          <a:p>
            <a:pPr marL="182563" marR="0" lvl="0" indent="-182563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ea typeface="LG스마트체 Regular" panose="020B0600000101010101" pitchFamily="50" charset="-127"/>
              </a:rPr>
              <a:t>Laser Slim</a:t>
            </a:r>
          </a:p>
        </p:txBody>
      </p:sp>
      <p:sp>
        <p:nvSpPr>
          <p:cNvPr id="314" name="TextBox 313">
            <a:extLst>
              <a:ext uri="{FF2B5EF4-FFF2-40B4-BE49-F238E27FC236}">
                <a16:creationId xmlns:a16="http://schemas.microsoft.com/office/drawing/2014/main" id="{F2C61537-6D0C-1143-A698-36B66A862CD1}"/>
              </a:ext>
            </a:extLst>
          </p:cNvPr>
          <p:cNvSpPr txBox="1"/>
          <p:nvPr/>
        </p:nvSpPr>
        <p:spPr>
          <a:xfrm>
            <a:off x="3339665" y="5844166"/>
            <a:ext cx="338233" cy="13849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wrap="none" lIns="0" tIns="0" rIns="0" bIns="0" rtlCol="0" anchor="ctr" anchorCtr="0">
            <a:spAutoFit/>
          </a:bodyPr>
          <a:lstStyle>
            <a:defPPr>
              <a:defRPr lang="ko-KR"/>
            </a:defPPr>
            <a:lvl1pPr marL="182563" indent="-182563" fontAlgn="base">
              <a:spcBef>
                <a:spcPct val="0"/>
              </a:spcBef>
              <a:spcAft>
                <a:spcPct val="0"/>
              </a:spcAft>
              <a:defRPr kumimoji="1" sz="800" b="0">
                <a:solidFill>
                  <a:srgbClr val="006600"/>
                </a:solidFill>
                <a:latin typeface="Arial Narrow" panose="020B0606020202030204" pitchFamily="34" charset="0"/>
                <a:ea typeface="돋움" pitchFamily="50" charset="-127"/>
                <a:cs typeface="Arial" pitchFamily="34" charset="0"/>
              </a:defRPr>
            </a:lvl1pPr>
          </a:lstStyle>
          <a:p>
            <a:pPr marL="182563" marR="0" lvl="0" indent="-182563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ea typeface="LG스마트체 Regular" panose="020B0600000101010101" pitchFamily="50" charset="-127"/>
              </a:rPr>
              <a:t>Contour</a:t>
            </a:r>
          </a:p>
        </p:txBody>
      </p:sp>
      <p:sp>
        <p:nvSpPr>
          <p:cNvPr id="315" name="TextBox 314">
            <a:extLst>
              <a:ext uri="{FF2B5EF4-FFF2-40B4-BE49-F238E27FC236}">
                <a16:creationId xmlns:a16="http://schemas.microsoft.com/office/drawing/2014/main" id="{E660350F-7279-3B58-2EE9-69054B5EFE67}"/>
              </a:ext>
            </a:extLst>
          </p:cNvPr>
          <p:cNvSpPr txBox="1"/>
          <p:nvPr/>
        </p:nvSpPr>
        <p:spPr>
          <a:xfrm>
            <a:off x="4127245" y="5476053"/>
            <a:ext cx="447237" cy="13849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wrap="none" lIns="0" tIns="0" rIns="0" bIns="0" rtlCol="0" anchor="ctr" anchorCtr="0">
            <a:spAutoFit/>
          </a:bodyPr>
          <a:lstStyle>
            <a:defPPr>
              <a:defRPr lang="ko-KR"/>
            </a:defPPr>
            <a:lvl1pPr marL="182563" indent="-182563" fontAlgn="base">
              <a:spcBef>
                <a:spcPct val="0"/>
              </a:spcBef>
              <a:spcAft>
                <a:spcPct val="0"/>
              </a:spcAft>
              <a:defRPr kumimoji="1" sz="800" b="0">
                <a:solidFill>
                  <a:srgbClr val="006600"/>
                </a:solidFill>
                <a:latin typeface="Arial Narrow" panose="020B0606020202030204" pitchFamily="34" charset="0"/>
                <a:ea typeface="돋움" pitchFamily="50" charset="-127"/>
                <a:cs typeface="Arial" pitchFamily="34" charset="0"/>
              </a:defRPr>
            </a:lvl1pPr>
          </a:lstStyle>
          <a:p>
            <a:pPr marL="182563" marR="0" lvl="0" indent="-182563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ea typeface="LG스마트체 Regular" panose="020B0600000101010101" pitchFamily="50" charset="-127"/>
              </a:rPr>
              <a:t>Laser Slim</a:t>
            </a:r>
          </a:p>
        </p:txBody>
      </p:sp>
      <p:sp>
        <p:nvSpPr>
          <p:cNvPr id="317" name="TextBox 316">
            <a:extLst>
              <a:ext uri="{FF2B5EF4-FFF2-40B4-BE49-F238E27FC236}">
                <a16:creationId xmlns:a16="http://schemas.microsoft.com/office/drawing/2014/main" id="{F554F8A3-1093-0535-DD6B-1C9272F7A84E}"/>
              </a:ext>
            </a:extLst>
          </p:cNvPr>
          <p:cNvSpPr txBox="1"/>
          <p:nvPr/>
        </p:nvSpPr>
        <p:spPr>
          <a:xfrm>
            <a:off x="4181747" y="5844166"/>
            <a:ext cx="338233" cy="13849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wrap="none" lIns="0" tIns="0" rIns="0" bIns="0" rtlCol="0" anchor="ctr" anchorCtr="0">
            <a:spAutoFit/>
          </a:bodyPr>
          <a:lstStyle>
            <a:defPPr>
              <a:defRPr lang="ko-KR"/>
            </a:defPPr>
            <a:lvl1pPr marL="182563" indent="-182563" fontAlgn="base">
              <a:spcBef>
                <a:spcPct val="0"/>
              </a:spcBef>
              <a:spcAft>
                <a:spcPct val="0"/>
              </a:spcAft>
              <a:defRPr kumimoji="1" sz="800" b="0">
                <a:solidFill>
                  <a:srgbClr val="006600"/>
                </a:solidFill>
                <a:latin typeface="Arial Narrow" panose="020B0606020202030204" pitchFamily="34" charset="0"/>
                <a:ea typeface="돋움" pitchFamily="50" charset="-127"/>
                <a:cs typeface="Arial" pitchFamily="34" charset="0"/>
              </a:defRPr>
            </a:lvl1pPr>
          </a:lstStyle>
          <a:p>
            <a:pPr marL="182563" marR="0" lvl="0" indent="-182563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ea typeface="LG스마트체 Regular" panose="020B0600000101010101" pitchFamily="50" charset="-127"/>
              </a:rPr>
              <a:t>Contour</a:t>
            </a:r>
          </a:p>
        </p:txBody>
      </p:sp>
      <p:sp>
        <p:nvSpPr>
          <p:cNvPr id="318" name="TextBox 317">
            <a:extLst>
              <a:ext uri="{FF2B5EF4-FFF2-40B4-BE49-F238E27FC236}">
                <a16:creationId xmlns:a16="http://schemas.microsoft.com/office/drawing/2014/main" id="{675F6F78-193A-1321-3C67-0113732378E0}"/>
              </a:ext>
            </a:extLst>
          </p:cNvPr>
          <p:cNvSpPr txBox="1"/>
          <p:nvPr/>
        </p:nvSpPr>
        <p:spPr>
          <a:xfrm>
            <a:off x="846980" y="4040725"/>
            <a:ext cx="1292341" cy="13849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wrap="none" lIns="0" tIns="0" rIns="0" bIns="0" rtlCol="0" anchor="ctr" anchorCtr="0">
            <a:spAutoFit/>
          </a:bodyPr>
          <a:lstStyle>
            <a:defPPr>
              <a:defRPr lang="ko-KR"/>
            </a:defPPr>
            <a:lvl1pPr marL="182563" indent="-182563" fontAlgn="base">
              <a:spcBef>
                <a:spcPct val="0"/>
              </a:spcBef>
              <a:spcAft>
                <a:spcPct val="0"/>
              </a:spcAft>
              <a:defRPr kumimoji="1" sz="800" b="0">
                <a:solidFill>
                  <a:srgbClr val="006600"/>
                </a:solidFill>
                <a:latin typeface="Arial Narrow" panose="020B0606020202030204" pitchFamily="34" charset="0"/>
                <a:ea typeface="돋움" pitchFamily="50" charset="-127"/>
                <a:cs typeface="Arial" pitchFamily="34" charset="0"/>
              </a:defRPr>
            </a:lvl1pPr>
          </a:lstStyle>
          <a:p>
            <a:pPr marL="182563" marR="0" lvl="0" indent="-182563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1" lang="ko-KR" altLang="en-US" sz="9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ea typeface="LG스마트체 Regular" panose="020B0600000101010101" pitchFamily="50" charset="-127"/>
              </a:rPr>
              <a:t>유럽 </a:t>
            </a:r>
            <a:r>
              <a:rPr kumimoji="1" lang="en-US" altLang="ko-KR" sz="9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ea typeface="LG스마트체 Regular" panose="020B0600000101010101" pitchFamily="50" charset="-127"/>
              </a:rPr>
              <a:t>S99H / </a:t>
            </a:r>
            <a:r>
              <a:rPr kumimoji="1" lang="ko-KR" altLang="en-US" sz="9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ea typeface="LG스마트체 Regular" panose="020B0600000101010101" pitchFamily="50" charset="-127"/>
              </a:rPr>
              <a:t>글로벌 </a:t>
            </a:r>
            <a:r>
              <a:rPr kumimoji="1" lang="en-US" altLang="ko-KR" sz="9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ea typeface="LG스마트체 Regular" panose="020B0600000101010101" pitchFamily="50" charset="-127"/>
              </a:rPr>
              <a:t>S95H</a:t>
            </a:r>
          </a:p>
        </p:txBody>
      </p:sp>
      <p:sp>
        <p:nvSpPr>
          <p:cNvPr id="319" name="TextBox 318">
            <a:extLst>
              <a:ext uri="{FF2B5EF4-FFF2-40B4-BE49-F238E27FC236}">
                <a16:creationId xmlns:a16="http://schemas.microsoft.com/office/drawing/2014/main" id="{F0D10417-4D83-4C40-5201-573B449C47F5}"/>
              </a:ext>
            </a:extLst>
          </p:cNvPr>
          <p:cNvSpPr txBox="1"/>
          <p:nvPr/>
        </p:nvSpPr>
        <p:spPr>
          <a:xfrm>
            <a:off x="834155" y="5436809"/>
            <a:ext cx="649538" cy="13849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wrap="none" lIns="0" tIns="0" rIns="0" bIns="0" rtlCol="0" anchor="ctr" anchorCtr="0">
            <a:spAutoFit/>
          </a:bodyPr>
          <a:lstStyle>
            <a:defPPr>
              <a:defRPr lang="ko-KR"/>
            </a:defPPr>
            <a:lvl1pPr marL="182563" indent="-182563" fontAlgn="base">
              <a:spcBef>
                <a:spcPct val="0"/>
              </a:spcBef>
              <a:spcAft>
                <a:spcPct val="0"/>
              </a:spcAft>
              <a:defRPr kumimoji="1" sz="800" b="0">
                <a:solidFill>
                  <a:srgbClr val="006600"/>
                </a:solidFill>
                <a:latin typeface="Arial Narrow" panose="020B0606020202030204" pitchFamily="34" charset="0"/>
                <a:ea typeface="돋움" pitchFamily="50" charset="-127"/>
                <a:cs typeface="Arial" pitchFamily="34" charset="0"/>
              </a:defRPr>
            </a:lvl1pPr>
          </a:lstStyle>
          <a:p>
            <a:pPr marL="182563" marR="0" lvl="0" indent="-182563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1" lang="ko-KR" altLang="en-US" sz="9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ea typeface="LG스마트체 Regular" panose="020B0600000101010101" pitchFamily="50" charset="-127"/>
              </a:rPr>
              <a:t>유럽 </a:t>
            </a:r>
            <a:r>
              <a:rPr kumimoji="1" lang="en-US" altLang="ko-KR" sz="9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ea typeface="LG스마트체 Regular" panose="020B0600000101010101" pitchFamily="50" charset="-127"/>
              </a:rPr>
              <a:t>S95H</a:t>
            </a:r>
          </a:p>
        </p:txBody>
      </p:sp>
      <p:cxnSp>
        <p:nvCxnSpPr>
          <p:cNvPr id="135" name="직선 화살표 연결선 134">
            <a:extLst>
              <a:ext uri="{FF2B5EF4-FFF2-40B4-BE49-F238E27FC236}">
                <a16:creationId xmlns:a16="http://schemas.microsoft.com/office/drawing/2014/main" id="{46C1B9A1-6544-1C3C-7702-9127E6C5059E}"/>
              </a:ext>
            </a:extLst>
          </p:cNvPr>
          <p:cNvCxnSpPr>
            <a:cxnSpLocks/>
          </p:cNvCxnSpPr>
          <p:nvPr/>
        </p:nvCxnSpPr>
        <p:spPr>
          <a:xfrm>
            <a:off x="7060727" y="954860"/>
            <a:ext cx="756000" cy="0"/>
          </a:xfrm>
          <a:prstGeom prst="straightConnector1">
            <a:avLst/>
          </a:prstGeom>
          <a:ln w="34925">
            <a:solidFill>
              <a:schemeClr val="bg1">
                <a:lumMod val="85000"/>
              </a:schemeClr>
            </a:solidFill>
            <a:headEnd type="triangle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직사각형 135">
            <a:hlinkClick r:id="" action="ppaction://noaction"/>
            <a:extLst>
              <a:ext uri="{FF2B5EF4-FFF2-40B4-BE49-F238E27FC236}">
                <a16:creationId xmlns:a16="http://schemas.microsoft.com/office/drawing/2014/main" id="{08304BC0-247B-62B9-EE1D-7E3F774DBFE1}"/>
              </a:ext>
            </a:extLst>
          </p:cNvPr>
          <p:cNvSpPr/>
          <p:nvPr/>
        </p:nvSpPr>
        <p:spPr>
          <a:xfrm>
            <a:off x="7946154" y="1754886"/>
            <a:ext cx="667226" cy="206731"/>
          </a:xfrm>
          <a:prstGeom prst="rect">
            <a:avLst/>
          </a:prstGeom>
          <a:solidFill>
            <a:srgbClr val="FF0000"/>
          </a:solidFill>
          <a:ln w="3175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45714" rIns="0" bIns="45714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MRGB85</a:t>
            </a:r>
            <a:endParaRPr kumimoji="1" lang="ko-KR" altLang="en-US" sz="12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37" name="직사각형 136">
            <a:hlinkClick r:id="" action="ppaction://noaction"/>
            <a:extLst>
              <a:ext uri="{FF2B5EF4-FFF2-40B4-BE49-F238E27FC236}">
                <a16:creationId xmlns:a16="http://schemas.microsoft.com/office/drawing/2014/main" id="{EC5E65EE-0F30-05F4-2DA6-1F0B29C68AC1}"/>
              </a:ext>
            </a:extLst>
          </p:cNvPr>
          <p:cNvSpPr/>
          <p:nvPr/>
        </p:nvSpPr>
        <p:spPr>
          <a:xfrm>
            <a:off x="7946154" y="2551260"/>
            <a:ext cx="667226" cy="206731"/>
          </a:xfrm>
          <a:prstGeom prst="rect">
            <a:avLst/>
          </a:prstGeom>
          <a:solidFill>
            <a:srgbClr val="FFCEC9"/>
          </a:solidFill>
          <a:ln w="3175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45714" rIns="0" bIns="45714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QNED90</a:t>
            </a:r>
            <a:endParaRPr kumimoji="1" lang="ko-KR" altLang="en-US" sz="12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39" name="직사각형 138">
            <a:hlinkClick r:id="" action="ppaction://noaction"/>
            <a:extLst>
              <a:ext uri="{FF2B5EF4-FFF2-40B4-BE49-F238E27FC236}">
                <a16:creationId xmlns:a16="http://schemas.microsoft.com/office/drawing/2014/main" id="{4993D677-0AB2-B13E-A005-9C768DBC0285}"/>
              </a:ext>
            </a:extLst>
          </p:cNvPr>
          <p:cNvSpPr/>
          <p:nvPr/>
        </p:nvSpPr>
        <p:spPr>
          <a:xfrm>
            <a:off x="7946154" y="3027641"/>
            <a:ext cx="667226" cy="206731"/>
          </a:xfrm>
          <a:prstGeom prst="rect">
            <a:avLst/>
          </a:prstGeom>
          <a:solidFill>
            <a:srgbClr val="FFCEC9"/>
          </a:solidFill>
          <a:ln w="3175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45714" rIns="0" bIns="45714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QNED85</a:t>
            </a:r>
            <a:endParaRPr kumimoji="1" lang="ko-KR" altLang="en-US" sz="12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41" name="직사각형 140">
            <a:hlinkClick r:id="" action="ppaction://noaction"/>
            <a:extLst>
              <a:ext uri="{FF2B5EF4-FFF2-40B4-BE49-F238E27FC236}">
                <a16:creationId xmlns:a16="http://schemas.microsoft.com/office/drawing/2014/main" id="{866E90CC-89BA-2519-2DBD-B75B6CC7918B}"/>
              </a:ext>
            </a:extLst>
          </p:cNvPr>
          <p:cNvSpPr/>
          <p:nvPr/>
        </p:nvSpPr>
        <p:spPr>
          <a:xfrm>
            <a:off x="7946154" y="4075018"/>
            <a:ext cx="667226" cy="206731"/>
          </a:xfrm>
          <a:prstGeom prst="rect">
            <a:avLst/>
          </a:prstGeom>
          <a:solidFill>
            <a:schemeClr val="bg1"/>
          </a:solidFill>
          <a:ln w="3175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45714" rIns="0" bIns="45714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QNED82</a:t>
            </a:r>
            <a:endParaRPr kumimoji="1" lang="ko-KR" altLang="en-US" sz="12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42" name="직사각형 141">
            <a:hlinkClick r:id="" action="ppaction://noaction"/>
            <a:extLst>
              <a:ext uri="{FF2B5EF4-FFF2-40B4-BE49-F238E27FC236}">
                <a16:creationId xmlns:a16="http://schemas.microsoft.com/office/drawing/2014/main" id="{A555C61D-8B49-893F-0F49-42C8F266E7CD}"/>
              </a:ext>
            </a:extLst>
          </p:cNvPr>
          <p:cNvSpPr/>
          <p:nvPr/>
        </p:nvSpPr>
        <p:spPr>
          <a:xfrm>
            <a:off x="7946154" y="4964852"/>
            <a:ext cx="667226" cy="206731"/>
          </a:xfrm>
          <a:prstGeom prst="rect">
            <a:avLst/>
          </a:prstGeom>
          <a:solidFill>
            <a:schemeClr val="bg1"/>
          </a:solidFill>
          <a:ln w="3175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45714" rIns="0" bIns="45714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QNED70</a:t>
            </a:r>
            <a:endParaRPr kumimoji="1" lang="ko-KR" altLang="en-US" sz="12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43" name="직사각형 142">
            <a:hlinkClick r:id="" action="ppaction://noaction"/>
            <a:extLst>
              <a:ext uri="{FF2B5EF4-FFF2-40B4-BE49-F238E27FC236}">
                <a16:creationId xmlns:a16="http://schemas.microsoft.com/office/drawing/2014/main" id="{3D682827-8645-2E5C-2886-9777A4BB5E38}"/>
              </a:ext>
            </a:extLst>
          </p:cNvPr>
          <p:cNvSpPr/>
          <p:nvPr/>
        </p:nvSpPr>
        <p:spPr>
          <a:xfrm>
            <a:off x="7946154" y="5777772"/>
            <a:ext cx="667226" cy="20673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45714" rIns="0" bIns="45714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1" kern="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NU85 / 80</a:t>
            </a:r>
            <a:endParaRPr kumimoji="1" lang="ko-KR" altLang="en-US" sz="12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46" name="직사각형 145">
            <a:hlinkClick r:id="" action="ppaction://noaction"/>
            <a:extLst>
              <a:ext uri="{FF2B5EF4-FFF2-40B4-BE49-F238E27FC236}">
                <a16:creationId xmlns:a16="http://schemas.microsoft.com/office/drawing/2014/main" id="{429588F5-B37F-9BCA-A453-CE06A6540649}"/>
              </a:ext>
            </a:extLst>
          </p:cNvPr>
          <p:cNvSpPr/>
          <p:nvPr/>
        </p:nvSpPr>
        <p:spPr>
          <a:xfrm>
            <a:off x="7946154" y="847104"/>
            <a:ext cx="667226" cy="206731"/>
          </a:xfrm>
          <a:prstGeom prst="rect">
            <a:avLst/>
          </a:prstGeom>
          <a:solidFill>
            <a:srgbClr val="FF0000"/>
          </a:solidFill>
          <a:ln w="3175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45714" rIns="0" bIns="45714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MRGB95</a:t>
            </a:r>
            <a:endParaRPr kumimoji="1" lang="ko-KR" altLang="en-US" sz="12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8717779B-33F1-0AEE-1528-EFCA9AE667CC}"/>
              </a:ext>
            </a:extLst>
          </p:cNvPr>
          <p:cNvSpPr txBox="1"/>
          <p:nvPr/>
        </p:nvSpPr>
        <p:spPr>
          <a:xfrm>
            <a:off x="8001646" y="1068148"/>
            <a:ext cx="556243" cy="13849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wrap="none" lIns="0" tIns="0" rIns="0" bIns="0" rtlCol="0" anchor="ctr" anchorCtr="0">
            <a:spAutoFit/>
          </a:bodyPr>
          <a:lstStyle>
            <a:defPPr>
              <a:defRPr lang="ko-KR"/>
            </a:defPPr>
            <a:lvl1pPr marL="182563" indent="-182563" fontAlgn="base">
              <a:spcBef>
                <a:spcPct val="0"/>
              </a:spcBef>
              <a:spcAft>
                <a:spcPct val="0"/>
              </a:spcAft>
              <a:defRPr kumimoji="1" sz="800" b="0">
                <a:solidFill>
                  <a:srgbClr val="006600"/>
                </a:solidFill>
                <a:latin typeface="Arial Narrow" panose="020B0606020202030204" pitchFamily="34" charset="0"/>
                <a:ea typeface="돋움" pitchFamily="50" charset="-127"/>
                <a:cs typeface="Arial" pitchFamily="34" charset="0"/>
              </a:defRPr>
            </a:lvl1pPr>
          </a:lstStyle>
          <a:p>
            <a:pPr marL="182563" marR="0" lvl="0" indent="-182563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ea typeface="LG스마트체 Regular" panose="020B0600000101010101" pitchFamily="50" charset="-127"/>
              </a:rPr>
              <a:t>RGB, 1,980B</a:t>
            </a: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80334021-FC47-0C81-A30B-030B90CEBF2A}"/>
              </a:ext>
            </a:extLst>
          </p:cNvPr>
          <p:cNvSpPr txBox="1"/>
          <p:nvPr/>
        </p:nvSpPr>
        <p:spPr>
          <a:xfrm>
            <a:off x="8009661" y="1970613"/>
            <a:ext cx="540212" cy="13849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wrap="none" lIns="0" tIns="0" rIns="0" bIns="0" rtlCol="0" anchor="ctr" anchorCtr="0">
            <a:spAutoFit/>
          </a:bodyPr>
          <a:lstStyle>
            <a:defPPr>
              <a:defRPr lang="ko-KR"/>
            </a:defPPr>
            <a:lvl1pPr marL="182563" indent="-182563" fontAlgn="base">
              <a:spcBef>
                <a:spcPct val="0"/>
              </a:spcBef>
              <a:spcAft>
                <a:spcPct val="0"/>
              </a:spcAft>
              <a:defRPr kumimoji="1" sz="800" b="0">
                <a:solidFill>
                  <a:srgbClr val="006600"/>
                </a:solidFill>
                <a:latin typeface="Arial Narrow" panose="020B0606020202030204" pitchFamily="34" charset="0"/>
                <a:ea typeface="돋움" pitchFamily="50" charset="-127"/>
                <a:cs typeface="Arial" pitchFamily="34" charset="0"/>
              </a:defRPr>
            </a:lvl1pPr>
          </a:lstStyle>
          <a:p>
            <a:pPr marL="182563" marR="0" lvl="0" indent="-182563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ea typeface="LG스마트체 Regular" panose="020B0600000101010101" pitchFamily="50" charset="-127"/>
              </a:rPr>
              <a:t>BG+KSF, 6B</a:t>
            </a: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B8B0E775-F95D-E943-1F3A-DA18B1BE5370}"/>
              </a:ext>
            </a:extLst>
          </p:cNvPr>
          <p:cNvSpPr txBox="1"/>
          <p:nvPr/>
        </p:nvSpPr>
        <p:spPr>
          <a:xfrm>
            <a:off x="7908672" y="5183495"/>
            <a:ext cx="742191" cy="13849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wrap="none" lIns="0" tIns="0" rIns="0" bIns="0" rtlCol="0" anchor="ctr" anchorCtr="0">
            <a:spAutoFit/>
          </a:bodyPr>
          <a:lstStyle>
            <a:defPPr>
              <a:defRPr lang="ko-KR"/>
            </a:defPPr>
            <a:lvl1pPr marL="182563" indent="-182563" fontAlgn="base">
              <a:spcBef>
                <a:spcPct val="0"/>
              </a:spcBef>
              <a:spcAft>
                <a:spcPct val="0"/>
              </a:spcAft>
              <a:defRPr kumimoji="1" sz="800" b="0">
                <a:solidFill>
                  <a:srgbClr val="006600"/>
                </a:solidFill>
                <a:latin typeface="Arial Narrow" panose="020B0606020202030204" pitchFamily="34" charset="0"/>
                <a:ea typeface="돋움" pitchFamily="50" charset="-127"/>
                <a:cs typeface="Arial" pitchFamily="34" charset="0"/>
              </a:defRPr>
            </a:lvl1pPr>
          </a:lstStyle>
          <a:p>
            <a:pPr marL="182563" marR="0" lvl="0" indent="-182563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ea typeface="LG스마트체 Regular" panose="020B0600000101010101" pitchFamily="50" charset="-127"/>
              </a:rPr>
              <a:t>Mini LED, </a:t>
            </a:r>
            <a:r>
              <a:rPr kumimoji="1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ea typeface="LG스마트체 Regular" panose="020B0600000101010101" pitchFamily="50" charset="-127"/>
              </a:rPr>
              <a:t>외관화</a:t>
            </a:r>
            <a:endParaRPr kumimoji="1" lang="en-US" altLang="ko-KR" sz="900" b="0" i="0" u="none" strike="noStrike" kern="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ea typeface="LG스마트체 Regular" panose="020B0600000101010101" pitchFamily="50" charset="-127"/>
            </a:endParaRP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BA15B77D-3443-E26F-88C1-28B74B704501}"/>
              </a:ext>
            </a:extLst>
          </p:cNvPr>
          <p:cNvSpPr txBox="1"/>
          <p:nvPr/>
        </p:nvSpPr>
        <p:spPr>
          <a:xfrm>
            <a:off x="7919092" y="4699366"/>
            <a:ext cx="721351" cy="13849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wrap="none" lIns="0" tIns="0" rIns="0" bIns="0" rtlCol="0" anchor="ctr" anchorCtr="0">
            <a:spAutoFit/>
          </a:bodyPr>
          <a:lstStyle>
            <a:defPPr>
              <a:defRPr lang="ko-KR"/>
            </a:defPPr>
            <a:lvl1pPr marL="182563" indent="-182563" fontAlgn="base">
              <a:spcBef>
                <a:spcPct val="0"/>
              </a:spcBef>
              <a:spcAft>
                <a:spcPct val="0"/>
              </a:spcAft>
              <a:defRPr kumimoji="1" sz="800" b="0">
                <a:solidFill>
                  <a:srgbClr val="006600"/>
                </a:solidFill>
                <a:latin typeface="Arial Narrow" panose="020B0606020202030204" pitchFamily="34" charset="0"/>
                <a:ea typeface="돋움" pitchFamily="50" charset="-127"/>
                <a:cs typeface="Arial" pitchFamily="34" charset="0"/>
              </a:defRPr>
            </a:lvl1pPr>
          </a:lstStyle>
          <a:p>
            <a:pPr marL="182563" marR="0" lvl="0" indent="-182563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ea typeface="LG스마트체 Regular" panose="020B0600000101010101" pitchFamily="50" charset="-127"/>
              </a:rPr>
              <a:t>Mini LED (Direct)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1A982B64-DDD4-E96B-3A95-356FA69F8C06}"/>
              </a:ext>
            </a:extLst>
          </p:cNvPr>
          <p:cNvSpPr txBox="1"/>
          <p:nvPr/>
        </p:nvSpPr>
        <p:spPr>
          <a:xfrm>
            <a:off x="8125879" y="4286600"/>
            <a:ext cx="307777" cy="13849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wrap="none" lIns="0" tIns="0" rIns="0" bIns="0" rtlCol="0" anchor="ctr" anchorCtr="0">
            <a:spAutoFit/>
          </a:bodyPr>
          <a:lstStyle>
            <a:defPPr>
              <a:defRPr lang="ko-KR"/>
            </a:defPPr>
            <a:lvl1pPr marL="182563" indent="-182563" fontAlgn="base">
              <a:spcBef>
                <a:spcPct val="0"/>
              </a:spcBef>
              <a:spcAft>
                <a:spcPct val="0"/>
              </a:spcAft>
              <a:defRPr kumimoji="1" sz="800" b="0">
                <a:solidFill>
                  <a:srgbClr val="006600"/>
                </a:solidFill>
                <a:latin typeface="Arial Narrow" panose="020B0606020202030204" pitchFamily="34" charset="0"/>
                <a:ea typeface="돋움" pitchFamily="50" charset="-127"/>
                <a:cs typeface="Arial" pitchFamily="34" charset="0"/>
              </a:defRPr>
            </a:lvl1pPr>
          </a:lstStyle>
          <a:p>
            <a:pPr marL="182563" marR="0" lvl="0" indent="-182563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ea typeface="LG스마트체 Regular" panose="020B0600000101010101" pitchFamily="50" charset="-127"/>
              </a:rPr>
              <a:t>외관화</a:t>
            </a:r>
            <a:endParaRPr kumimoji="1" lang="en-US" altLang="ko-KR" sz="900" b="0" i="0" u="none" strike="noStrike" kern="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ea typeface="LG스마트체 Regular" panose="020B0600000101010101" pitchFamily="50" charset="-127"/>
            </a:endParaRP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7F74E88C-0159-DC00-7FEF-18CBDF592C8A}"/>
              </a:ext>
            </a:extLst>
          </p:cNvPr>
          <p:cNvSpPr txBox="1"/>
          <p:nvPr/>
        </p:nvSpPr>
        <p:spPr>
          <a:xfrm>
            <a:off x="7981609" y="3240441"/>
            <a:ext cx="596317" cy="13849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wrap="none" lIns="0" tIns="0" rIns="0" bIns="0" rtlCol="0" anchor="ctr" anchorCtr="0">
            <a:spAutoFit/>
          </a:bodyPr>
          <a:lstStyle>
            <a:defPPr>
              <a:defRPr lang="ko-KR"/>
            </a:defPPr>
            <a:lvl1pPr marL="182563" indent="-182563" fontAlgn="base">
              <a:spcBef>
                <a:spcPct val="0"/>
              </a:spcBef>
              <a:spcAft>
                <a:spcPct val="0"/>
              </a:spcAft>
              <a:defRPr kumimoji="1" sz="800" b="0">
                <a:solidFill>
                  <a:srgbClr val="006600"/>
                </a:solidFill>
                <a:latin typeface="Arial Narrow" panose="020B0606020202030204" pitchFamily="34" charset="0"/>
                <a:ea typeface="돋움" pitchFamily="50" charset="-127"/>
                <a:cs typeface="Arial" pitchFamily="34" charset="0"/>
              </a:defRPr>
            </a:lvl1pPr>
          </a:lstStyle>
          <a:p>
            <a:pPr marL="182563" marR="0" lvl="0" indent="-182563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ea typeface="LG스마트체 Regular" panose="020B0600000101010101" pitchFamily="50" charset="-127"/>
              </a:rPr>
              <a:t>Slim Edge, 6B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18D7DEC1-74E3-83C1-4CE6-1FCD6622BB06}"/>
              </a:ext>
            </a:extLst>
          </p:cNvPr>
          <p:cNvSpPr txBox="1"/>
          <p:nvPr/>
        </p:nvSpPr>
        <p:spPr>
          <a:xfrm>
            <a:off x="7899054" y="2772575"/>
            <a:ext cx="761427" cy="13849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wrap="none" lIns="0" tIns="0" rIns="0" bIns="0" rtlCol="0" anchor="ctr" anchorCtr="0">
            <a:spAutoFit/>
          </a:bodyPr>
          <a:lstStyle>
            <a:defPPr>
              <a:defRPr lang="ko-KR"/>
            </a:defPPr>
            <a:lvl1pPr marL="182563" indent="-182563" fontAlgn="base">
              <a:spcBef>
                <a:spcPct val="0"/>
              </a:spcBef>
              <a:spcAft>
                <a:spcPct val="0"/>
              </a:spcAft>
              <a:defRPr kumimoji="1" sz="800" b="0">
                <a:solidFill>
                  <a:srgbClr val="006600"/>
                </a:solidFill>
                <a:latin typeface="Arial Narrow" panose="020B0606020202030204" pitchFamily="34" charset="0"/>
                <a:ea typeface="돋움" pitchFamily="50" charset="-127"/>
                <a:cs typeface="Arial" pitchFamily="34" charset="0"/>
              </a:defRPr>
            </a:lvl1pPr>
          </a:lstStyle>
          <a:p>
            <a:pPr marL="182563" marR="0" lvl="0" indent="-182563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ea typeface="LG스마트체 Regular" panose="020B0600000101010101" pitchFamily="50" charset="-127"/>
              </a:rPr>
              <a:t>JDM</a:t>
            </a:r>
            <a:r>
              <a:rPr lang="en-US" altLang="ko-KR" sz="900" kern="0" dirty="0">
                <a:ea typeface="LG스마트체 Regular" panose="020B0600000101010101" pitchFamily="50" charset="-127"/>
              </a:rPr>
              <a:t>, </a:t>
            </a:r>
            <a:r>
              <a:rPr kumimoji="1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ea typeface="LG스마트체 Regular" panose="020B0600000101010101" pitchFamily="50" charset="-127"/>
              </a:rPr>
              <a:t>FALD, 154B</a:t>
            </a: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09B9116D-F451-477A-DB2E-8819690BA15E}"/>
              </a:ext>
            </a:extLst>
          </p:cNvPr>
          <p:cNvSpPr txBox="1"/>
          <p:nvPr/>
        </p:nvSpPr>
        <p:spPr>
          <a:xfrm>
            <a:off x="8125879" y="5990673"/>
            <a:ext cx="307777" cy="13849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wrap="none" lIns="0" tIns="0" rIns="0" bIns="0" rtlCol="0" anchor="ctr" anchorCtr="0">
            <a:spAutoFit/>
          </a:bodyPr>
          <a:lstStyle>
            <a:defPPr>
              <a:defRPr lang="ko-KR"/>
            </a:defPPr>
            <a:lvl1pPr marL="182563" indent="-182563" fontAlgn="base">
              <a:spcBef>
                <a:spcPct val="0"/>
              </a:spcBef>
              <a:spcAft>
                <a:spcPct val="0"/>
              </a:spcAft>
              <a:defRPr kumimoji="1" sz="800" b="0">
                <a:solidFill>
                  <a:srgbClr val="006600"/>
                </a:solidFill>
                <a:latin typeface="Arial Narrow" panose="020B0606020202030204" pitchFamily="34" charset="0"/>
                <a:ea typeface="돋움" pitchFamily="50" charset="-127"/>
                <a:cs typeface="Arial" pitchFamily="34" charset="0"/>
              </a:defRPr>
            </a:lvl1pPr>
          </a:lstStyle>
          <a:p>
            <a:pPr marL="182563" marR="0" lvl="0" indent="-182563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ea typeface="LG스마트체 Regular" panose="020B0600000101010101" pitchFamily="50" charset="-127"/>
              </a:rPr>
              <a:t>외관화</a:t>
            </a:r>
            <a:endParaRPr kumimoji="1" lang="en-US" altLang="ko-KR" sz="900" b="0" i="0" u="none" strike="noStrike" kern="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ea typeface="LG스마트체 Regular" panose="020B0600000101010101" pitchFamily="50" charset="-127"/>
            </a:endParaRPr>
          </a:p>
        </p:txBody>
      </p:sp>
      <p:graphicFrame>
        <p:nvGraphicFramePr>
          <p:cNvPr id="170" name="표 169">
            <a:extLst>
              <a:ext uri="{FF2B5EF4-FFF2-40B4-BE49-F238E27FC236}">
                <a16:creationId xmlns:a16="http://schemas.microsoft.com/office/drawing/2014/main" id="{221FAC91-ABCB-1F7F-45FF-1CF7D7DA4DA3}"/>
              </a:ext>
            </a:extLst>
          </p:cNvPr>
          <p:cNvGraphicFramePr>
            <a:graphicFrameLocks noGrp="1"/>
          </p:cNvGraphicFramePr>
          <p:nvPr/>
        </p:nvGraphicFramePr>
        <p:xfrm>
          <a:off x="8688575" y="816754"/>
          <a:ext cx="720000" cy="29337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12264047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8237678"/>
                    </a:ext>
                  </a:extLst>
                </a:gridCol>
              </a:tblGrid>
              <a:tr h="5743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165Hz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49.9mm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3802869"/>
                  </a:ext>
                </a:extLst>
              </a:tr>
              <a:tr h="57432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4,000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850nit</a:t>
                      </a:r>
                      <a:endParaRPr lang="ko-KR" altLang="en-US" sz="9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8423897"/>
                  </a:ext>
                </a:extLst>
              </a:tr>
            </a:tbl>
          </a:graphicData>
        </a:graphic>
      </p:graphicFrame>
      <p:graphicFrame>
        <p:nvGraphicFramePr>
          <p:cNvPr id="171" name="표 170">
            <a:extLst>
              <a:ext uri="{FF2B5EF4-FFF2-40B4-BE49-F238E27FC236}">
                <a16:creationId xmlns:a16="http://schemas.microsoft.com/office/drawing/2014/main" id="{3A287A32-37B5-6C2E-8062-1730FCA56A0C}"/>
              </a:ext>
            </a:extLst>
          </p:cNvPr>
          <p:cNvGraphicFramePr>
            <a:graphicFrameLocks noGrp="1"/>
          </p:cNvGraphicFramePr>
          <p:nvPr/>
        </p:nvGraphicFramePr>
        <p:xfrm>
          <a:off x="8688575" y="1724886"/>
          <a:ext cx="720000" cy="29337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12264047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8237678"/>
                    </a:ext>
                  </a:extLst>
                </a:gridCol>
              </a:tblGrid>
              <a:tr h="5743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144Hz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49.9mm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3802869"/>
                  </a:ext>
                </a:extLst>
              </a:tr>
              <a:tr h="57432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800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500nit</a:t>
                      </a:r>
                      <a:endParaRPr lang="ko-KR" altLang="en-US" sz="9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8423897"/>
                  </a:ext>
                </a:extLst>
              </a:tr>
            </a:tbl>
          </a:graphicData>
        </a:graphic>
      </p:graphicFrame>
      <p:graphicFrame>
        <p:nvGraphicFramePr>
          <p:cNvPr id="172" name="표 171">
            <a:extLst>
              <a:ext uri="{FF2B5EF4-FFF2-40B4-BE49-F238E27FC236}">
                <a16:creationId xmlns:a16="http://schemas.microsoft.com/office/drawing/2014/main" id="{95DE01F0-A564-B16B-CEED-96AE7E3F2048}"/>
              </a:ext>
            </a:extLst>
          </p:cNvPr>
          <p:cNvGraphicFramePr>
            <a:graphicFrameLocks noGrp="1"/>
          </p:cNvGraphicFramePr>
          <p:nvPr/>
        </p:nvGraphicFramePr>
        <p:xfrm>
          <a:off x="8688575" y="2517891"/>
          <a:ext cx="720000" cy="29337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12264047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8237678"/>
                    </a:ext>
                  </a:extLst>
                </a:gridCol>
              </a:tblGrid>
              <a:tr h="5743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144Hz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59.9mm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3802869"/>
                  </a:ext>
                </a:extLst>
              </a:tr>
              <a:tr h="57432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800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500 nit</a:t>
                      </a:r>
                      <a:endParaRPr lang="ko-KR" altLang="en-US" sz="9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8423897"/>
                  </a:ext>
                </a:extLst>
              </a:tr>
            </a:tbl>
          </a:graphicData>
        </a:graphic>
      </p:graphicFrame>
      <p:graphicFrame>
        <p:nvGraphicFramePr>
          <p:cNvPr id="173" name="표 172">
            <a:extLst>
              <a:ext uri="{FF2B5EF4-FFF2-40B4-BE49-F238E27FC236}">
                <a16:creationId xmlns:a16="http://schemas.microsoft.com/office/drawing/2014/main" id="{5DB7F8C3-E494-A9EC-ACF4-0AF4E51617CE}"/>
              </a:ext>
            </a:extLst>
          </p:cNvPr>
          <p:cNvGraphicFramePr>
            <a:graphicFrameLocks noGrp="1"/>
          </p:cNvGraphicFramePr>
          <p:nvPr/>
        </p:nvGraphicFramePr>
        <p:xfrm>
          <a:off x="8688575" y="2994329"/>
          <a:ext cx="720000" cy="29337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12264047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8237678"/>
                    </a:ext>
                  </a:extLst>
                </a:gridCol>
              </a:tblGrid>
              <a:tr h="5743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144Hz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29.7mm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3802869"/>
                  </a:ext>
                </a:extLst>
              </a:tr>
              <a:tr h="57432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800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500nit</a:t>
                      </a:r>
                      <a:endParaRPr lang="ko-KR" altLang="en-US" sz="9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8423897"/>
                  </a:ext>
                </a:extLst>
              </a:tr>
            </a:tbl>
          </a:graphicData>
        </a:graphic>
      </p:graphicFrame>
      <p:graphicFrame>
        <p:nvGraphicFramePr>
          <p:cNvPr id="174" name="표 173">
            <a:extLst>
              <a:ext uri="{FF2B5EF4-FFF2-40B4-BE49-F238E27FC236}">
                <a16:creationId xmlns:a16="http://schemas.microsoft.com/office/drawing/2014/main" id="{78D37A0A-9150-9FD1-EB76-A2356CA74714}"/>
              </a:ext>
            </a:extLst>
          </p:cNvPr>
          <p:cNvGraphicFramePr>
            <a:graphicFrameLocks noGrp="1"/>
          </p:cNvGraphicFramePr>
          <p:nvPr/>
        </p:nvGraphicFramePr>
        <p:xfrm>
          <a:off x="8688575" y="4043555"/>
          <a:ext cx="720000" cy="29337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12264047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8237678"/>
                    </a:ext>
                  </a:extLst>
                </a:gridCol>
              </a:tblGrid>
              <a:tr h="5743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144Hz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67.9mm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3802869"/>
                  </a:ext>
                </a:extLst>
              </a:tr>
              <a:tr h="57432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350nit</a:t>
                      </a:r>
                      <a:endParaRPr lang="ko-KR" altLang="en-US" sz="9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8423897"/>
                  </a:ext>
                </a:extLst>
              </a:tr>
            </a:tbl>
          </a:graphicData>
        </a:graphic>
      </p:graphicFrame>
      <p:graphicFrame>
        <p:nvGraphicFramePr>
          <p:cNvPr id="175" name="표 174">
            <a:extLst>
              <a:ext uri="{FF2B5EF4-FFF2-40B4-BE49-F238E27FC236}">
                <a16:creationId xmlns:a16="http://schemas.microsoft.com/office/drawing/2014/main" id="{275FE62C-9FCE-5C57-FC5F-4C05F8AF77EE}"/>
              </a:ext>
            </a:extLst>
          </p:cNvPr>
          <p:cNvGraphicFramePr>
            <a:graphicFrameLocks noGrp="1"/>
          </p:cNvGraphicFramePr>
          <p:nvPr/>
        </p:nvGraphicFramePr>
        <p:xfrm>
          <a:off x="8688575" y="4409911"/>
          <a:ext cx="720000" cy="29337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12264047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8237678"/>
                    </a:ext>
                  </a:extLst>
                </a:gridCol>
              </a:tblGrid>
              <a:tr h="5743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60Hz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67.9mm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3802869"/>
                  </a:ext>
                </a:extLst>
              </a:tr>
              <a:tr h="57432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350nit</a:t>
                      </a:r>
                      <a:endParaRPr lang="ko-KR" altLang="en-US" sz="9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8423897"/>
                  </a:ext>
                </a:extLst>
              </a:tr>
            </a:tbl>
          </a:graphicData>
        </a:graphic>
      </p:graphicFrame>
      <p:graphicFrame>
        <p:nvGraphicFramePr>
          <p:cNvPr id="176" name="표 175">
            <a:extLst>
              <a:ext uri="{FF2B5EF4-FFF2-40B4-BE49-F238E27FC236}">
                <a16:creationId xmlns:a16="http://schemas.microsoft.com/office/drawing/2014/main" id="{CA387DD2-9E2E-6D60-2B61-31625FAED63A}"/>
              </a:ext>
            </a:extLst>
          </p:cNvPr>
          <p:cNvGraphicFramePr>
            <a:graphicFrameLocks noGrp="1"/>
          </p:cNvGraphicFramePr>
          <p:nvPr/>
        </p:nvGraphicFramePr>
        <p:xfrm>
          <a:off x="8688575" y="4969586"/>
          <a:ext cx="720000" cy="29337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12264047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8237678"/>
                    </a:ext>
                  </a:extLst>
                </a:gridCol>
              </a:tblGrid>
              <a:tr h="5743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60Hz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</a:rPr>
                        <a:t>70.8mm</a:t>
                      </a:r>
                      <a:endParaRPr lang="en-US" altLang="ko-KR" sz="9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3802869"/>
                  </a:ext>
                </a:extLst>
              </a:tr>
              <a:tr h="57432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300nit</a:t>
                      </a:r>
                      <a:endParaRPr lang="ko-KR" altLang="en-US" sz="9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8423897"/>
                  </a:ext>
                </a:extLst>
              </a:tr>
            </a:tbl>
          </a:graphicData>
        </a:graphic>
      </p:graphicFrame>
      <p:cxnSp>
        <p:nvCxnSpPr>
          <p:cNvPr id="181" name="직선 화살표 연결선 180">
            <a:extLst>
              <a:ext uri="{FF2B5EF4-FFF2-40B4-BE49-F238E27FC236}">
                <a16:creationId xmlns:a16="http://schemas.microsoft.com/office/drawing/2014/main" id="{22A59256-AE9C-A399-9C9B-FAEB434BED15}"/>
              </a:ext>
            </a:extLst>
          </p:cNvPr>
          <p:cNvCxnSpPr>
            <a:cxnSpLocks/>
          </p:cNvCxnSpPr>
          <p:nvPr/>
        </p:nvCxnSpPr>
        <p:spPr>
          <a:xfrm>
            <a:off x="7060727" y="5896559"/>
            <a:ext cx="756000" cy="0"/>
          </a:xfrm>
          <a:prstGeom prst="straightConnector1">
            <a:avLst/>
          </a:prstGeom>
          <a:ln w="34925">
            <a:solidFill>
              <a:schemeClr val="bg1">
                <a:lumMod val="85000"/>
              </a:schemeClr>
            </a:solidFill>
            <a:headEnd type="triangle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82" name="표 181">
            <a:extLst>
              <a:ext uri="{FF2B5EF4-FFF2-40B4-BE49-F238E27FC236}">
                <a16:creationId xmlns:a16="http://schemas.microsoft.com/office/drawing/2014/main" id="{7F6BFE0F-7880-49FB-72B5-253E53222CF1}"/>
              </a:ext>
            </a:extLst>
          </p:cNvPr>
          <p:cNvGraphicFramePr>
            <a:graphicFrameLocks noGrp="1"/>
          </p:cNvGraphicFramePr>
          <p:nvPr/>
        </p:nvGraphicFramePr>
        <p:xfrm>
          <a:off x="9030081" y="5674326"/>
          <a:ext cx="360000" cy="440055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98237678"/>
                    </a:ext>
                  </a:extLst>
                </a:gridCol>
              </a:tblGrid>
              <a:tr h="5743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NU85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6033945"/>
                  </a:ext>
                </a:extLst>
              </a:tr>
              <a:tr h="5743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70.8mm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3802869"/>
                  </a:ext>
                </a:extLst>
              </a:tr>
              <a:tr h="57432"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300nit</a:t>
                      </a:r>
                      <a:endParaRPr sz="9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8423897"/>
                  </a:ext>
                </a:extLst>
              </a:tr>
            </a:tbl>
          </a:graphicData>
        </a:graphic>
      </p:graphicFrame>
      <p:graphicFrame>
        <p:nvGraphicFramePr>
          <p:cNvPr id="185" name="표 184">
            <a:extLst>
              <a:ext uri="{FF2B5EF4-FFF2-40B4-BE49-F238E27FC236}">
                <a16:creationId xmlns:a16="http://schemas.microsoft.com/office/drawing/2014/main" id="{E2C47D78-5A78-B3FD-945F-17869F7BE970}"/>
              </a:ext>
            </a:extLst>
          </p:cNvPr>
          <p:cNvGraphicFramePr>
            <a:graphicFrameLocks noGrp="1"/>
          </p:cNvGraphicFramePr>
          <p:nvPr/>
        </p:nvGraphicFramePr>
        <p:xfrm>
          <a:off x="9450229" y="5674326"/>
          <a:ext cx="360000" cy="440055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98237678"/>
                    </a:ext>
                  </a:extLst>
                </a:gridCol>
              </a:tblGrid>
              <a:tr h="5743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NU80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0724997"/>
                  </a:ext>
                </a:extLst>
              </a:tr>
              <a:tr h="5743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59.9mm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3802869"/>
                  </a:ext>
                </a:extLst>
              </a:tr>
              <a:tr h="57432"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250nit</a:t>
                      </a:r>
                      <a:endParaRPr sz="9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8423897"/>
                  </a:ext>
                </a:extLst>
              </a:tr>
            </a:tbl>
          </a:graphicData>
        </a:graphic>
      </p:graphicFrame>
      <p:graphicFrame>
        <p:nvGraphicFramePr>
          <p:cNvPr id="187" name="표 186">
            <a:extLst>
              <a:ext uri="{FF2B5EF4-FFF2-40B4-BE49-F238E27FC236}">
                <a16:creationId xmlns:a16="http://schemas.microsoft.com/office/drawing/2014/main" id="{44FBAF19-0B8C-F8F6-8E85-4BC273E1151E}"/>
              </a:ext>
            </a:extLst>
          </p:cNvPr>
          <p:cNvGraphicFramePr>
            <a:graphicFrameLocks noGrp="1"/>
          </p:cNvGraphicFramePr>
          <p:nvPr/>
        </p:nvGraphicFramePr>
        <p:xfrm>
          <a:off x="8644339" y="5816652"/>
          <a:ext cx="297521" cy="146685"/>
        </p:xfrm>
        <a:graphic>
          <a:graphicData uri="http://schemas.openxmlformats.org/drawingml/2006/table">
            <a:tbl>
              <a:tblPr/>
              <a:tblGrid>
                <a:gridCol w="297521">
                  <a:extLst>
                    <a:ext uri="{9D8B030D-6E8A-4147-A177-3AD203B41FA5}">
                      <a16:colId xmlns:a16="http://schemas.microsoft.com/office/drawing/2014/main" val="1226404708"/>
                    </a:ext>
                  </a:extLst>
                </a:gridCol>
              </a:tblGrid>
              <a:tr h="5743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60Hz</a:t>
                      </a:r>
                      <a:endParaRPr lang="ko-KR" altLang="en-US" sz="9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872" marR="7872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8423897"/>
                  </a:ext>
                </a:extLst>
              </a:tr>
            </a:tbl>
          </a:graphicData>
        </a:graphic>
      </p:graphicFrame>
      <p:cxnSp>
        <p:nvCxnSpPr>
          <p:cNvPr id="259" name="직선 화살표 연결선 258">
            <a:extLst>
              <a:ext uri="{FF2B5EF4-FFF2-40B4-BE49-F238E27FC236}">
                <a16:creationId xmlns:a16="http://schemas.microsoft.com/office/drawing/2014/main" id="{A7425B3A-BEBF-CBCA-DF8E-02DE9E67728D}"/>
              </a:ext>
            </a:extLst>
          </p:cNvPr>
          <p:cNvCxnSpPr>
            <a:cxnSpLocks/>
          </p:cNvCxnSpPr>
          <p:nvPr/>
        </p:nvCxnSpPr>
        <p:spPr>
          <a:xfrm flipV="1">
            <a:off x="7124785" y="4205496"/>
            <a:ext cx="683581" cy="158542"/>
          </a:xfrm>
          <a:prstGeom prst="straightConnector1">
            <a:avLst/>
          </a:prstGeom>
          <a:ln w="34925">
            <a:solidFill>
              <a:schemeClr val="bg1">
                <a:lumMod val="85000"/>
              </a:schemeClr>
            </a:solidFill>
            <a:headEnd type="triangle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5" name="직선 화살표 연결선 274">
            <a:extLst>
              <a:ext uri="{FF2B5EF4-FFF2-40B4-BE49-F238E27FC236}">
                <a16:creationId xmlns:a16="http://schemas.microsoft.com/office/drawing/2014/main" id="{045ECE1E-2CED-B9F2-88DF-089670DCFF17}"/>
              </a:ext>
            </a:extLst>
          </p:cNvPr>
          <p:cNvCxnSpPr>
            <a:cxnSpLocks/>
          </p:cNvCxnSpPr>
          <p:nvPr/>
        </p:nvCxnSpPr>
        <p:spPr>
          <a:xfrm flipV="1">
            <a:off x="7124785" y="5151368"/>
            <a:ext cx="683581" cy="158542"/>
          </a:xfrm>
          <a:prstGeom prst="straightConnector1">
            <a:avLst/>
          </a:prstGeom>
          <a:ln w="34925">
            <a:solidFill>
              <a:schemeClr val="bg1">
                <a:lumMod val="85000"/>
              </a:schemeClr>
            </a:solidFill>
            <a:headEnd type="triangle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6" name="직사각형 285">
            <a:hlinkClick r:id="" action="ppaction://noaction"/>
            <a:extLst>
              <a:ext uri="{FF2B5EF4-FFF2-40B4-BE49-F238E27FC236}">
                <a16:creationId xmlns:a16="http://schemas.microsoft.com/office/drawing/2014/main" id="{BD6A85BF-E215-36A4-9E65-89299AD03052}"/>
              </a:ext>
            </a:extLst>
          </p:cNvPr>
          <p:cNvSpPr/>
          <p:nvPr/>
        </p:nvSpPr>
        <p:spPr>
          <a:xfrm>
            <a:off x="6322549" y="1318329"/>
            <a:ext cx="667226" cy="206731"/>
          </a:xfrm>
          <a:prstGeom prst="rect">
            <a:avLst/>
          </a:prstGeom>
          <a:solidFill>
            <a:srgbClr val="0066FF"/>
          </a:solidFill>
          <a:ln w="3175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45714" rIns="0" bIns="45714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R85H</a:t>
            </a:r>
            <a:endParaRPr kumimoji="1" lang="ko-KR" altLang="en-US" sz="12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88" name="TextBox 287">
            <a:extLst>
              <a:ext uri="{FF2B5EF4-FFF2-40B4-BE49-F238E27FC236}">
                <a16:creationId xmlns:a16="http://schemas.microsoft.com/office/drawing/2014/main" id="{06D8DEDC-DB4F-E147-8B19-7EF02B57C984}"/>
              </a:ext>
            </a:extLst>
          </p:cNvPr>
          <p:cNvSpPr txBox="1"/>
          <p:nvPr/>
        </p:nvSpPr>
        <p:spPr>
          <a:xfrm>
            <a:off x="6553570" y="1512021"/>
            <a:ext cx="205184" cy="13849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wrap="none" lIns="0" tIns="0" rIns="0" bIns="0" rtlCol="0" anchor="ctr" anchorCtr="0">
            <a:spAutoFit/>
          </a:bodyPr>
          <a:lstStyle>
            <a:defPPr>
              <a:defRPr lang="ko-KR"/>
            </a:defPPr>
            <a:lvl1pPr marL="182563" indent="-182563" fontAlgn="base">
              <a:spcBef>
                <a:spcPct val="0"/>
              </a:spcBef>
              <a:spcAft>
                <a:spcPct val="0"/>
              </a:spcAft>
              <a:defRPr kumimoji="1" sz="800" b="0">
                <a:solidFill>
                  <a:srgbClr val="006600"/>
                </a:solidFill>
                <a:latin typeface="Arial Narrow" panose="020B0606020202030204" pitchFamily="34" charset="0"/>
                <a:ea typeface="돋움" pitchFamily="50" charset="-127"/>
                <a:cs typeface="Arial" pitchFamily="34" charset="0"/>
              </a:defRPr>
            </a:lvl1pPr>
          </a:lstStyle>
          <a:p>
            <a:pPr marL="182563" marR="0" lvl="0" indent="-182563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ea typeface="LG스마트체 Regular" panose="020B0600000101010101" pitchFamily="50" charset="-127"/>
              </a:rPr>
              <a:t>RGB</a:t>
            </a:r>
          </a:p>
        </p:txBody>
      </p:sp>
      <p:sp>
        <p:nvSpPr>
          <p:cNvPr id="290" name="직사각형 289">
            <a:hlinkClick r:id="" action="ppaction://noaction"/>
            <a:extLst>
              <a:ext uri="{FF2B5EF4-FFF2-40B4-BE49-F238E27FC236}">
                <a16:creationId xmlns:a16="http://schemas.microsoft.com/office/drawing/2014/main" id="{97AE081A-5245-4E82-FF76-5E9E6AC2C939}"/>
              </a:ext>
            </a:extLst>
          </p:cNvPr>
          <p:cNvSpPr/>
          <p:nvPr/>
        </p:nvSpPr>
        <p:spPr>
          <a:xfrm>
            <a:off x="6322549" y="1783308"/>
            <a:ext cx="667226" cy="206731"/>
          </a:xfrm>
          <a:prstGeom prst="rect">
            <a:avLst/>
          </a:prstGeom>
          <a:solidFill>
            <a:srgbClr val="0066FF">
              <a:alpha val="15000"/>
            </a:srgbClr>
          </a:solidFill>
          <a:ln w="3175" cap="flat" cmpd="sng" algn="ctr">
            <a:solidFill>
              <a:schemeClr val="bg1">
                <a:lumMod val="85000"/>
              </a:schemeClr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45714" rIns="0" bIns="45714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R80H</a:t>
            </a:r>
            <a:endParaRPr kumimoji="1" lang="ko-KR" altLang="en-US" sz="12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93" name="TextBox 292">
            <a:extLst>
              <a:ext uri="{FF2B5EF4-FFF2-40B4-BE49-F238E27FC236}">
                <a16:creationId xmlns:a16="http://schemas.microsoft.com/office/drawing/2014/main" id="{E8E36463-3811-0618-1F9C-5900E15D75AA}"/>
              </a:ext>
            </a:extLst>
          </p:cNvPr>
          <p:cNvSpPr txBox="1"/>
          <p:nvPr/>
        </p:nvSpPr>
        <p:spPr>
          <a:xfrm>
            <a:off x="6469412" y="1998541"/>
            <a:ext cx="373500" cy="13849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wrap="none" lIns="0" tIns="0" rIns="0" bIns="0" rtlCol="0" anchor="ctr" anchorCtr="0">
            <a:spAutoFit/>
          </a:bodyPr>
          <a:lstStyle>
            <a:defPPr>
              <a:defRPr lang="ko-KR"/>
            </a:defPPr>
            <a:lvl1pPr marL="182563" indent="-182563" fontAlgn="base">
              <a:spcBef>
                <a:spcPct val="0"/>
              </a:spcBef>
              <a:spcAft>
                <a:spcPct val="0"/>
              </a:spcAft>
              <a:defRPr kumimoji="1" sz="800" b="0">
                <a:solidFill>
                  <a:srgbClr val="006600"/>
                </a:solidFill>
                <a:latin typeface="Arial Narrow" panose="020B0606020202030204" pitchFamily="34" charset="0"/>
                <a:ea typeface="돋움" pitchFamily="50" charset="-127"/>
                <a:cs typeface="Arial" pitchFamily="34" charset="0"/>
              </a:defRPr>
            </a:lvl1pPr>
          </a:lstStyle>
          <a:p>
            <a:pPr marL="182563" marR="0" lvl="0" indent="-182563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ea typeface="LG스마트체 Regular" panose="020B0600000101010101" pitchFamily="50" charset="-127"/>
              </a:rPr>
              <a:t>BG+KSF</a:t>
            </a:r>
          </a:p>
        </p:txBody>
      </p:sp>
      <p:graphicFrame>
        <p:nvGraphicFramePr>
          <p:cNvPr id="294" name="표 293">
            <a:extLst>
              <a:ext uri="{FF2B5EF4-FFF2-40B4-BE49-F238E27FC236}">
                <a16:creationId xmlns:a16="http://schemas.microsoft.com/office/drawing/2014/main" id="{5AB0A764-ABC7-5BF1-D646-2BF80EA49D34}"/>
              </a:ext>
            </a:extLst>
          </p:cNvPr>
          <p:cNvGraphicFramePr>
            <a:graphicFrameLocks noGrp="1"/>
          </p:cNvGraphicFramePr>
          <p:nvPr/>
        </p:nvGraphicFramePr>
        <p:xfrm>
          <a:off x="5523852" y="1298036"/>
          <a:ext cx="720000" cy="29337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12264047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8237678"/>
                    </a:ext>
                  </a:extLst>
                </a:gridCol>
              </a:tblGrid>
              <a:tr h="5743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144Hz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51.9mm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3802869"/>
                  </a:ext>
                </a:extLst>
              </a:tr>
              <a:tr h="57432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1,500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600nit</a:t>
                      </a:r>
                      <a:endParaRPr lang="ko-KR" altLang="en-US" sz="9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8423897"/>
                  </a:ext>
                </a:extLst>
              </a:tr>
            </a:tbl>
          </a:graphicData>
        </a:graphic>
      </p:graphicFrame>
      <p:graphicFrame>
        <p:nvGraphicFramePr>
          <p:cNvPr id="296" name="표 295">
            <a:extLst>
              <a:ext uri="{FF2B5EF4-FFF2-40B4-BE49-F238E27FC236}">
                <a16:creationId xmlns:a16="http://schemas.microsoft.com/office/drawing/2014/main" id="{EF2250B8-6841-DDAE-AAA3-D7D24B22B481}"/>
              </a:ext>
            </a:extLst>
          </p:cNvPr>
          <p:cNvGraphicFramePr>
            <a:graphicFrameLocks noGrp="1"/>
          </p:cNvGraphicFramePr>
          <p:nvPr/>
        </p:nvGraphicFramePr>
        <p:xfrm>
          <a:off x="5514425" y="1828393"/>
          <a:ext cx="720000" cy="162878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1226404708"/>
                    </a:ext>
                  </a:extLst>
                </a:gridCol>
              </a:tblGrid>
              <a:tr h="161354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7030A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TBD (2H)</a:t>
                      </a:r>
                    </a:p>
                  </a:txBody>
                  <a:tcPr marL="9525" marR="9525" marT="10478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3802869"/>
                  </a:ext>
                </a:extLst>
              </a:tr>
            </a:tbl>
          </a:graphicData>
        </a:graphic>
      </p:graphicFrame>
      <p:sp>
        <p:nvSpPr>
          <p:cNvPr id="45" name="직사각형 44">
            <a:hlinkClick r:id="" action="ppaction://noaction"/>
            <a:extLst>
              <a:ext uri="{FF2B5EF4-FFF2-40B4-BE49-F238E27FC236}">
                <a16:creationId xmlns:a16="http://schemas.microsoft.com/office/drawing/2014/main" id="{22AF9944-7B24-FBAD-E16E-0542A5382063}"/>
              </a:ext>
            </a:extLst>
          </p:cNvPr>
          <p:cNvSpPr/>
          <p:nvPr/>
        </p:nvSpPr>
        <p:spPr>
          <a:xfrm>
            <a:off x="7946154" y="4482354"/>
            <a:ext cx="667226" cy="206731"/>
          </a:xfrm>
          <a:prstGeom prst="rect">
            <a:avLst/>
          </a:prstGeom>
          <a:solidFill>
            <a:schemeClr val="bg1"/>
          </a:solidFill>
          <a:ln w="3175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45714" rIns="0" bIns="45714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QNED80</a:t>
            </a:r>
            <a:endParaRPr kumimoji="1" lang="ko-KR" altLang="en-US" sz="12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62" name="타원 261">
            <a:extLst>
              <a:ext uri="{FF2B5EF4-FFF2-40B4-BE49-F238E27FC236}">
                <a16:creationId xmlns:a16="http://schemas.microsoft.com/office/drawing/2014/main" id="{1C57DA7C-7C3C-15E7-9C7B-A78BBEA642EA}"/>
              </a:ext>
            </a:extLst>
          </p:cNvPr>
          <p:cNvSpPr/>
          <p:nvPr/>
        </p:nvSpPr>
        <p:spPr>
          <a:xfrm>
            <a:off x="7281837" y="860544"/>
            <a:ext cx="349200" cy="209409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100" i="1" dirty="0">
                <a:solidFill>
                  <a:schemeClr val="bg1"/>
                </a:solidFill>
                <a:latin typeface="Arial Narrow" panose="020B0606020202030204" pitchFamily="34" charset="0"/>
              </a:rPr>
              <a:t>100</a:t>
            </a:r>
            <a:endParaRPr lang="ko-KR" altLang="en-US" sz="1100" i="1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271" name="타원 270">
            <a:extLst>
              <a:ext uri="{FF2B5EF4-FFF2-40B4-BE49-F238E27FC236}">
                <a16:creationId xmlns:a16="http://schemas.microsoft.com/office/drawing/2014/main" id="{6C780CBF-97D2-3BDF-7230-1A618BC25FBC}"/>
              </a:ext>
            </a:extLst>
          </p:cNvPr>
          <p:cNvSpPr/>
          <p:nvPr/>
        </p:nvSpPr>
        <p:spPr>
          <a:xfrm>
            <a:off x="7281837" y="5796800"/>
            <a:ext cx="349200" cy="209409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100" i="1" dirty="0">
                <a:solidFill>
                  <a:schemeClr val="bg1"/>
                </a:solidFill>
                <a:latin typeface="Arial Narrow" panose="020B0606020202030204" pitchFamily="34" charset="0"/>
              </a:rPr>
              <a:t>100</a:t>
            </a:r>
            <a:endParaRPr lang="ko-KR" altLang="en-US" sz="1100" i="1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274" name="타원 273">
            <a:extLst>
              <a:ext uri="{FF2B5EF4-FFF2-40B4-BE49-F238E27FC236}">
                <a16:creationId xmlns:a16="http://schemas.microsoft.com/office/drawing/2014/main" id="{DE447DEF-AD6F-AA45-5BAB-3238BD83966F}"/>
              </a:ext>
            </a:extLst>
          </p:cNvPr>
          <p:cNvSpPr/>
          <p:nvPr/>
        </p:nvSpPr>
        <p:spPr>
          <a:xfrm>
            <a:off x="7281837" y="4196956"/>
            <a:ext cx="349200" cy="209409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100" i="1" dirty="0">
                <a:solidFill>
                  <a:schemeClr val="bg1"/>
                </a:solidFill>
                <a:latin typeface="Arial Narrow" panose="020B0606020202030204" pitchFamily="34" charset="0"/>
              </a:rPr>
              <a:t>105</a:t>
            </a:r>
            <a:endParaRPr lang="ko-KR" altLang="en-US" sz="1100" i="1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279" name="타원 278">
            <a:extLst>
              <a:ext uri="{FF2B5EF4-FFF2-40B4-BE49-F238E27FC236}">
                <a16:creationId xmlns:a16="http://schemas.microsoft.com/office/drawing/2014/main" id="{5562CF4D-8D78-450B-FD57-104550CDA136}"/>
              </a:ext>
            </a:extLst>
          </p:cNvPr>
          <p:cNvSpPr/>
          <p:nvPr/>
        </p:nvSpPr>
        <p:spPr>
          <a:xfrm>
            <a:off x="7281837" y="5148338"/>
            <a:ext cx="349200" cy="209409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100" i="1" dirty="0">
                <a:solidFill>
                  <a:schemeClr val="bg1"/>
                </a:solidFill>
                <a:latin typeface="Arial Narrow" panose="020B0606020202030204" pitchFamily="34" charset="0"/>
              </a:rPr>
              <a:t>105</a:t>
            </a:r>
            <a:endParaRPr lang="ko-KR" altLang="en-US" sz="1100" i="1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cxnSp>
        <p:nvCxnSpPr>
          <p:cNvPr id="89" name="직선 화살표 연결선 88">
            <a:extLst>
              <a:ext uri="{FF2B5EF4-FFF2-40B4-BE49-F238E27FC236}">
                <a16:creationId xmlns:a16="http://schemas.microsoft.com/office/drawing/2014/main" id="{42EAE220-C6BC-9C8F-B1B5-0D8D14D0A4A1}"/>
              </a:ext>
            </a:extLst>
          </p:cNvPr>
          <p:cNvCxnSpPr>
            <a:cxnSpLocks/>
          </p:cNvCxnSpPr>
          <p:nvPr/>
        </p:nvCxnSpPr>
        <p:spPr>
          <a:xfrm>
            <a:off x="5303872" y="3884007"/>
            <a:ext cx="4196263" cy="0"/>
          </a:xfrm>
          <a:prstGeom prst="straightConnector1">
            <a:avLst/>
          </a:prstGeom>
          <a:ln w="6350">
            <a:solidFill>
              <a:schemeClr val="bg1">
                <a:lumMod val="85000"/>
              </a:schemeClr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직선 화살표 연결선 106">
            <a:extLst>
              <a:ext uri="{FF2B5EF4-FFF2-40B4-BE49-F238E27FC236}">
                <a16:creationId xmlns:a16="http://schemas.microsoft.com/office/drawing/2014/main" id="{C180FA8A-F06D-BC3C-E5B9-E2F3D6F10770}"/>
              </a:ext>
            </a:extLst>
          </p:cNvPr>
          <p:cNvCxnSpPr>
            <a:cxnSpLocks/>
          </p:cNvCxnSpPr>
          <p:nvPr/>
        </p:nvCxnSpPr>
        <p:spPr>
          <a:xfrm>
            <a:off x="5330958" y="5633676"/>
            <a:ext cx="4392000" cy="0"/>
          </a:xfrm>
          <a:prstGeom prst="straightConnector1">
            <a:avLst/>
          </a:prstGeom>
          <a:ln w="6350">
            <a:solidFill>
              <a:schemeClr val="bg1">
                <a:lumMod val="85000"/>
              </a:schemeClr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8" name="TextBox 277">
            <a:extLst>
              <a:ext uri="{FF2B5EF4-FFF2-40B4-BE49-F238E27FC236}">
                <a16:creationId xmlns:a16="http://schemas.microsoft.com/office/drawing/2014/main" id="{3A62C1EB-AE41-2002-9166-D18D8A659564}"/>
              </a:ext>
            </a:extLst>
          </p:cNvPr>
          <p:cNvSpPr txBox="1"/>
          <p:nvPr/>
        </p:nvSpPr>
        <p:spPr>
          <a:xfrm>
            <a:off x="5263975" y="2958086"/>
            <a:ext cx="3930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900" dirty="0">
                <a:solidFill>
                  <a:srgbClr val="7030A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25</a:t>
            </a:r>
            <a:r>
              <a:rPr lang="ko-KR" altLang="en-US" sz="900" dirty="0">
                <a:solidFill>
                  <a:srgbClr val="7030A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년</a:t>
            </a:r>
            <a:br>
              <a:rPr lang="en-US" altLang="ko-KR" sz="900" dirty="0">
                <a:solidFill>
                  <a:srgbClr val="7030A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900" dirty="0">
                <a:solidFill>
                  <a:srgbClr val="7030A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96B</a:t>
            </a:r>
            <a:endParaRPr lang="ko-KR" altLang="en-US" sz="900" dirty="0">
              <a:solidFill>
                <a:srgbClr val="7030A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14" name="내용 개체 틀 1">
            <a:extLst>
              <a:ext uri="{FF2B5EF4-FFF2-40B4-BE49-F238E27FC236}">
                <a16:creationId xmlns:a16="http://schemas.microsoft.com/office/drawing/2014/main" id="{792E2863-84DB-DA22-24EB-7A952224B107}"/>
              </a:ext>
            </a:extLst>
          </p:cNvPr>
          <p:cNvSpPr txBox="1">
            <a:spLocks/>
          </p:cNvSpPr>
          <p:nvPr/>
        </p:nvSpPr>
        <p:spPr>
          <a:xfrm>
            <a:off x="10037348" y="1205357"/>
            <a:ext cx="2317463" cy="908967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spAutoFit/>
          </a:bodyPr>
          <a:lstStyle>
            <a:lvl1pPr marL="0" indent="0" algn="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723" b="1" kern="1200" baseline="0">
                <a:solidFill>
                  <a:schemeClr val="tx1"/>
                </a:solidFill>
                <a:latin typeface="Arial Narrow" pitchFamily="34" charset="0"/>
                <a:ea typeface="LG스마트체 Regular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20000"/>
              </a:lnSpc>
            </a:pPr>
            <a:r>
              <a:rPr lang="en-US" altLang="ko-KR" sz="1000" b="0" dirty="0">
                <a:solidFill>
                  <a:prstClr val="black">
                    <a:lumMod val="95000"/>
                    <a:lumOff val="5000"/>
                  </a:prstClr>
                </a:solidFill>
              </a:rPr>
              <a:t>- C6 / B6</a:t>
            </a:r>
            <a:r>
              <a:rPr lang="ko-KR" altLang="en-US" sz="1000" b="0" dirty="0">
                <a:solidFill>
                  <a:prstClr val="black">
                    <a:lumMod val="95000"/>
                    <a:lumOff val="5000"/>
                  </a:prstClr>
                </a:solidFill>
              </a:rPr>
              <a:t> </a:t>
            </a:r>
            <a:r>
              <a:rPr lang="en-US" altLang="ko-KR" sz="1000" b="0" dirty="0">
                <a:solidFill>
                  <a:prstClr val="black">
                    <a:lumMod val="95000"/>
                    <a:lumOff val="5000"/>
                  </a:prstClr>
                </a:solidFill>
              </a:rPr>
              <a:t>75” $300, 65/55” $200 Gap</a:t>
            </a:r>
            <a:r>
              <a:rPr lang="ko-KR" altLang="en-US" sz="1000" b="0" dirty="0">
                <a:solidFill>
                  <a:prstClr val="black">
                    <a:lumMod val="95000"/>
                    <a:lumOff val="5000"/>
                  </a:prstClr>
                </a:solidFill>
              </a:rPr>
              <a:t> 준수</a:t>
            </a:r>
            <a:br>
              <a:rPr lang="en-US" altLang="ko-KR" sz="1000" b="0" dirty="0">
                <a:solidFill>
                  <a:prstClr val="black">
                    <a:lumMod val="95000"/>
                    <a:lumOff val="5000"/>
                  </a:prstClr>
                </a:solidFill>
              </a:rPr>
            </a:br>
            <a:r>
              <a:rPr lang="en-US" altLang="ko-KR" sz="1000" b="0" dirty="0">
                <a:solidFill>
                  <a:prstClr val="black">
                    <a:lumMod val="95000"/>
                    <a:lumOff val="5000"/>
                  </a:prstClr>
                </a:solidFill>
              </a:rPr>
              <a:t>   (B </a:t>
            </a:r>
            <a:r>
              <a:rPr lang="ko-KR" altLang="en-US" sz="1000" b="0" dirty="0">
                <a:solidFill>
                  <a:prstClr val="black">
                    <a:lumMod val="95000"/>
                    <a:lumOff val="5000"/>
                  </a:prstClr>
                </a:solidFill>
              </a:rPr>
              <a:t>추가하락 방지</a:t>
            </a:r>
            <a:r>
              <a:rPr lang="en-US" altLang="ko-KR" sz="1000" b="0" dirty="0">
                <a:solidFill>
                  <a:prstClr val="black">
                    <a:lumMod val="95000"/>
                    <a:lumOff val="5000"/>
                  </a:prstClr>
                </a:solidFill>
              </a:rPr>
              <a:t>)</a:t>
            </a:r>
            <a:br>
              <a:rPr lang="en-US" altLang="ko-KR" sz="1000" b="0" dirty="0">
                <a:solidFill>
                  <a:prstClr val="black">
                    <a:lumMod val="95000"/>
                    <a:lumOff val="5000"/>
                  </a:prstClr>
                </a:solidFill>
              </a:rPr>
            </a:br>
            <a:r>
              <a:rPr lang="en-US" altLang="ko-KR" sz="1000" b="0" dirty="0">
                <a:solidFill>
                  <a:prstClr val="black">
                    <a:lumMod val="95000"/>
                    <a:lumOff val="5000"/>
                  </a:prstClr>
                </a:solidFill>
              </a:rPr>
              <a:t>- B6 / B6E </a:t>
            </a:r>
            <a:r>
              <a:rPr lang="ko-KR" altLang="en-US" sz="1000" b="0" dirty="0">
                <a:solidFill>
                  <a:prstClr val="black">
                    <a:lumMod val="95000"/>
                    <a:lumOff val="5000"/>
                  </a:prstClr>
                </a:solidFill>
              </a:rPr>
              <a:t>포지셔닝 </a:t>
            </a:r>
            <a:r>
              <a:rPr lang="en-US" altLang="ko-KR" sz="1000" b="0" dirty="0">
                <a:solidFill>
                  <a:prstClr val="black">
                    <a:lumMod val="95000"/>
                    <a:lumOff val="5000"/>
                  </a:prstClr>
                </a:solidFill>
              </a:rPr>
              <a:t>Gap $100 </a:t>
            </a:r>
            <a:r>
              <a:rPr lang="ko-KR" altLang="en-US" sz="1000" b="0" dirty="0">
                <a:solidFill>
                  <a:prstClr val="black">
                    <a:lumMod val="95000"/>
                    <a:lumOff val="5000"/>
                  </a:prstClr>
                </a:solidFill>
              </a:rPr>
              <a:t>내 운영</a:t>
            </a:r>
            <a:br>
              <a:rPr lang="en-US" altLang="ko-KR" sz="1000" b="0" dirty="0">
                <a:solidFill>
                  <a:prstClr val="black">
                    <a:lumMod val="95000"/>
                    <a:lumOff val="5000"/>
                  </a:prstClr>
                </a:solidFill>
              </a:rPr>
            </a:br>
            <a:r>
              <a:rPr lang="en-US" altLang="ko-KR" sz="1000" b="0" dirty="0">
                <a:solidFill>
                  <a:prstClr val="black">
                    <a:lumMod val="95000"/>
                    <a:lumOff val="5000"/>
                  </a:prstClr>
                </a:solidFill>
              </a:rPr>
              <a:t>- </a:t>
            </a:r>
            <a:r>
              <a:rPr lang="ko-KR" altLang="en-US" sz="1000" b="0" dirty="0">
                <a:solidFill>
                  <a:prstClr val="black">
                    <a:lumMod val="95000"/>
                    <a:lumOff val="5000"/>
                  </a:prstClr>
                </a:solidFill>
              </a:rPr>
              <a:t>상반기 </a:t>
            </a:r>
            <a:r>
              <a:rPr lang="en-US" altLang="ko-KR" sz="1000" b="0" dirty="0">
                <a:solidFill>
                  <a:prstClr val="black">
                    <a:lumMod val="95000"/>
                    <a:lumOff val="5000"/>
                  </a:prstClr>
                </a:solidFill>
              </a:rPr>
              <a:t>B6 Pol-less </a:t>
            </a:r>
            <a:r>
              <a:rPr lang="ko-KR" altLang="en-US" sz="1000" b="0" dirty="0" err="1">
                <a:solidFill>
                  <a:prstClr val="black">
                    <a:lumMod val="95000"/>
                    <a:lumOff val="5000"/>
                  </a:prstClr>
                </a:solidFill>
              </a:rPr>
              <a:t>미출시</a:t>
            </a:r>
            <a:r>
              <a:rPr lang="ko-KR" altLang="en-US" sz="1000" b="0" dirty="0">
                <a:solidFill>
                  <a:prstClr val="black">
                    <a:lumMod val="95000"/>
                    <a:lumOff val="5000"/>
                  </a:prstClr>
                </a:solidFill>
              </a:rPr>
              <a:t> 지역</a:t>
            </a:r>
            <a:r>
              <a:rPr lang="en-US" altLang="ko-KR" sz="1000" b="0" dirty="0">
                <a:solidFill>
                  <a:prstClr val="black">
                    <a:lumMod val="95000"/>
                    <a:lumOff val="5000"/>
                  </a:prstClr>
                </a:solidFill>
              </a:rPr>
              <a:t>/</a:t>
            </a:r>
            <a:r>
              <a:rPr lang="ko-KR" altLang="en-US" sz="1000" b="0" dirty="0">
                <a:solidFill>
                  <a:prstClr val="black">
                    <a:lumMod val="95000"/>
                    <a:lumOff val="5000"/>
                  </a:prstClr>
                </a:solidFill>
              </a:rPr>
              <a:t>국가는</a:t>
            </a:r>
            <a:br>
              <a:rPr lang="en-US" altLang="ko-KR" sz="1000" b="0" dirty="0">
                <a:solidFill>
                  <a:prstClr val="black">
                    <a:lumMod val="95000"/>
                    <a:lumOff val="5000"/>
                  </a:prstClr>
                </a:solidFill>
              </a:rPr>
            </a:br>
            <a:r>
              <a:rPr lang="en-US" altLang="ko-KR" sz="1000" b="0" dirty="0">
                <a:solidFill>
                  <a:prstClr val="black">
                    <a:lumMod val="95000"/>
                    <a:lumOff val="5000"/>
                  </a:prstClr>
                </a:solidFill>
              </a:rPr>
              <a:t>  Special </a:t>
            </a:r>
            <a:r>
              <a:rPr lang="ko-KR" altLang="en-US" sz="1000" b="0" dirty="0">
                <a:solidFill>
                  <a:prstClr val="black">
                    <a:lumMod val="95000"/>
                    <a:lumOff val="5000"/>
                  </a:prstClr>
                </a:solidFill>
              </a:rPr>
              <a:t>패널價 활용</a:t>
            </a:r>
            <a:r>
              <a:rPr lang="en-US" altLang="ko-KR" sz="1000" b="0" dirty="0">
                <a:solidFill>
                  <a:prstClr val="black">
                    <a:lumMod val="95000"/>
                    <a:lumOff val="5000"/>
                  </a:prstClr>
                </a:solidFill>
              </a:rPr>
              <a:t>, S85 ATA</a:t>
            </a:r>
            <a:r>
              <a:rPr lang="ko-KR" altLang="en-US" sz="1000" b="0" dirty="0">
                <a:solidFill>
                  <a:prstClr val="black">
                    <a:lumMod val="95000"/>
                    <a:lumOff val="5000"/>
                  </a:prstClr>
                </a:solidFill>
              </a:rPr>
              <a:t> </a:t>
            </a:r>
            <a:r>
              <a:rPr lang="en-US" altLang="ko-KR" sz="1000" b="0" dirty="0">
                <a:solidFill>
                  <a:prstClr val="black">
                    <a:lumMod val="95000"/>
                    <a:lumOff val="5000"/>
                  </a:prstClr>
                </a:solidFill>
              </a:rPr>
              <a:t>100 </a:t>
            </a:r>
            <a:r>
              <a:rPr lang="ko-KR" altLang="en-US" sz="1000" b="0" dirty="0">
                <a:solidFill>
                  <a:prstClr val="black">
                    <a:lumMod val="95000"/>
                    <a:lumOff val="5000"/>
                  </a:prstClr>
                </a:solidFill>
              </a:rPr>
              <a:t>대응</a:t>
            </a:r>
            <a:endParaRPr lang="en-US" altLang="ko-KR" sz="1000" b="0" dirty="0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  <p:sp>
        <p:nvSpPr>
          <p:cNvPr id="117" name="Text Box 1787">
            <a:extLst>
              <a:ext uri="{FF2B5EF4-FFF2-40B4-BE49-F238E27FC236}">
                <a16:creationId xmlns:a16="http://schemas.microsoft.com/office/drawing/2014/main" id="{79F70110-13A6-92BA-5F62-302DF44EB1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31117" y="4641167"/>
            <a:ext cx="2210062" cy="2336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58500" tIns="29250" rIns="58500" bIns="29250">
            <a:spAutoFit/>
          </a:bodyPr>
          <a:lstStyle>
            <a:lvl1pPr eaLnBrk="0" hangingPunct="0">
              <a:defRPr kumimoji="1" sz="1200" b="1">
                <a:solidFill>
                  <a:schemeClr val="tx1"/>
                </a:solidFill>
                <a:latin typeface="Arial" charset="0"/>
                <a:ea typeface="돋움" pitchFamily="50" charset="-127"/>
                <a:sym typeface="Wingdings" pitchFamily="2" charset="2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Arial" charset="0"/>
                <a:ea typeface="돋움" pitchFamily="50" charset="-127"/>
                <a:sym typeface="Wingdings" pitchFamily="2" charset="2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Arial" charset="0"/>
                <a:ea typeface="돋움" pitchFamily="50" charset="-127"/>
                <a:sym typeface="Wingdings" pitchFamily="2" charset="2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Arial" charset="0"/>
                <a:ea typeface="돋움" pitchFamily="50" charset="-127"/>
                <a:sym typeface="Wingdings" pitchFamily="2" charset="2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Arial" charset="0"/>
                <a:ea typeface="돋움" pitchFamily="50" charset="-127"/>
                <a:sym typeface="Wingdings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200" b="1">
                <a:solidFill>
                  <a:schemeClr val="tx1"/>
                </a:solidFill>
                <a:latin typeface="Arial" charset="0"/>
                <a:ea typeface="돋움" pitchFamily="50" charset="-127"/>
                <a:sym typeface="Wingdings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200" b="1">
                <a:solidFill>
                  <a:schemeClr val="tx1"/>
                </a:solidFill>
                <a:latin typeface="Arial" charset="0"/>
                <a:ea typeface="돋움" pitchFamily="50" charset="-127"/>
                <a:sym typeface="Wingdings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200" b="1">
                <a:solidFill>
                  <a:schemeClr val="tx1"/>
                </a:solidFill>
                <a:latin typeface="Arial" charset="0"/>
                <a:ea typeface="돋움" pitchFamily="50" charset="-127"/>
                <a:sym typeface="Wingdings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200" b="1">
                <a:solidFill>
                  <a:schemeClr val="tx1"/>
                </a:solidFill>
                <a:latin typeface="Arial" charset="0"/>
                <a:ea typeface="돋움" pitchFamily="50" charset="-127"/>
                <a:sym typeface="Wingdings" pitchFamily="2" charset="2"/>
              </a:defRPr>
            </a:lvl9pPr>
          </a:lstStyle>
          <a:p>
            <a:pPr marL="87750" indent="-146250" defTabSz="742931" eaLnBrk="1" hangingPunct="1">
              <a:lnSpc>
                <a:spcPct val="110000"/>
              </a:lnSpc>
              <a:spcBef>
                <a:spcPts val="244"/>
              </a:spcBef>
              <a:buFont typeface="Wingdings" panose="05000000000000000000" pitchFamily="2" charset="2"/>
              <a:buChar char=""/>
            </a:pPr>
            <a:r>
              <a:rPr lang="en-US" altLang="ko-KR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  QNED82 / 70, M80 / 70</a:t>
            </a:r>
            <a:r>
              <a:rPr lang="ko-KR" altLang="en-US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비 </a:t>
            </a:r>
            <a:r>
              <a:rPr lang="en-US" altLang="ko-KR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ATA 105</a:t>
            </a:r>
          </a:p>
        </p:txBody>
      </p:sp>
      <p:sp>
        <p:nvSpPr>
          <p:cNvPr id="119" name="사각형: 둥근 모서리 118">
            <a:extLst>
              <a:ext uri="{FF2B5EF4-FFF2-40B4-BE49-F238E27FC236}">
                <a16:creationId xmlns:a16="http://schemas.microsoft.com/office/drawing/2014/main" id="{E51905FF-D4A8-FBDB-37F8-7A4840250D18}"/>
              </a:ext>
            </a:extLst>
          </p:cNvPr>
          <p:cNvSpPr/>
          <p:nvPr/>
        </p:nvSpPr>
        <p:spPr>
          <a:xfrm>
            <a:off x="9796817" y="4669514"/>
            <a:ext cx="179114" cy="176977"/>
          </a:xfrm>
          <a:prstGeom prst="roundRect">
            <a:avLst/>
          </a:prstGeom>
          <a:solidFill>
            <a:schemeClr val="tx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3</a:t>
            </a:r>
            <a:endParaRPr lang="ko-KR" altLang="en-US" sz="1100" b="1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graphicFrame>
        <p:nvGraphicFramePr>
          <p:cNvPr id="121" name="표 120">
            <a:extLst>
              <a:ext uri="{FF2B5EF4-FFF2-40B4-BE49-F238E27FC236}">
                <a16:creationId xmlns:a16="http://schemas.microsoft.com/office/drawing/2014/main" id="{9909E450-D690-F960-D93F-2B87DCE48796}"/>
              </a:ext>
            </a:extLst>
          </p:cNvPr>
          <p:cNvGraphicFramePr>
            <a:graphicFrameLocks noGrp="1"/>
          </p:cNvGraphicFramePr>
          <p:nvPr/>
        </p:nvGraphicFramePr>
        <p:xfrm>
          <a:off x="5441529" y="5001199"/>
          <a:ext cx="833536" cy="161354"/>
        </p:xfrm>
        <a:graphic>
          <a:graphicData uri="http://schemas.openxmlformats.org/drawingml/2006/table">
            <a:tbl>
              <a:tblPr/>
              <a:tblGrid>
                <a:gridCol w="833536">
                  <a:extLst>
                    <a:ext uri="{9D8B030D-6E8A-4147-A177-3AD203B41FA5}">
                      <a16:colId xmlns:a16="http://schemas.microsoft.com/office/drawing/2014/main" val="1226404708"/>
                    </a:ext>
                  </a:extLst>
                </a:gridCol>
              </a:tblGrid>
              <a:tr h="161354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rgbClr val="7030A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AI </a:t>
                      </a:r>
                      <a:r>
                        <a:rPr lang="ko-KR" altLang="en-US" sz="800" b="0" i="0" u="none" strike="noStrike" dirty="0">
                          <a:solidFill>
                            <a:srgbClr val="7030A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음성인식 미적용</a:t>
                      </a:r>
                      <a:endParaRPr lang="en-US" altLang="ko-KR" sz="800" b="0" i="0" u="none" strike="noStrike" dirty="0">
                        <a:solidFill>
                          <a:srgbClr val="7030A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10478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3802869"/>
                  </a:ext>
                </a:extLst>
              </a:tr>
            </a:tbl>
          </a:graphicData>
        </a:graphic>
      </p:graphicFrame>
      <p:graphicFrame>
        <p:nvGraphicFramePr>
          <p:cNvPr id="128" name="표 127">
            <a:extLst>
              <a:ext uri="{FF2B5EF4-FFF2-40B4-BE49-F238E27FC236}">
                <a16:creationId xmlns:a16="http://schemas.microsoft.com/office/drawing/2014/main" id="{242269F0-FFB1-3575-C9D1-3A7F6DA8B19E}"/>
              </a:ext>
            </a:extLst>
          </p:cNvPr>
          <p:cNvGraphicFramePr>
            <a:graphicFrameLocks noGrp="1"/>
          </p:cNvGraphicFramePr>
          <p:nvPr/>
        </p:nvGraphicFramePr>
        <p:xfrm>
          <a:off x="10104260" y="2310360"/>
          <a:ext cx="1661859" cy="262890"/>
        </p:xfrm>
        <a:graphic>
          <a:graphicData uri="http://schemas.openxmlformats.org/drawingml/2006/table">
            <a:tbl>
              <a:tblPr/>
              <a:tblGrid>
                <a:gridCol w="308616">
                  <a:extLst>
                    <a:ext uri="{9D8B030D-6E8A-4147-A177-3AD203B41FA5}">
                      <a16:colId xmlns:a16="http://schemas.microsoft.com/office/drawing/2014/main" val="708961937"/>
                    </a:ext>
                  </a:extLst>
                </a:gridCol>
                <a:gridCol w="451081">
                  <a:extLst>
                    <a:ext uri="{9D8B030D-6E8A-4147-A177-3AD203B41FA5}">
                      <a16:colId xmlns:a16="http://schemas.microsoft.com/office/drawing/2014/main" val="806212905"/>
                    </a:ext>
                  </a:extLst>
                </a:gridCol>
                <a:gridCol w="451081">
                  <a:extLst>
                    <a:ext uri="{9D8B030D-6E8A-4147-A177-3AD203B41FA5}">
                      <a16:colId xmlns:a16="http://schemas.microsoft.com/office/drawing/2014/main" val="806934573"/>
                    </a:ext>
                  </a:extLst>
                </a:gridCol>
                <a:gridCol w="451081">
                  <a:extLst>
                    <a:ext uri="{9D8B030D-6E8A-4147-A177-3AD203B41FA5}">
                      <a16:colId xmlns:a16="http://schemas.microsoft.com/office/drawing/2014/main" val="327800832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Tool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C6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B6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B6E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61877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65"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$697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$666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$589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7527305"/>
                  </a:ext>
                </a:extLst>
              </a:tr>
            </a:tbl>
          </a:graphicData>
        </a:graphic>
      </p:graphicFrame>
      <p:sp>
        <p:nvSpPr>
          <p:cNvPr id="129" name="TextBox 128">
            <a:extLst>
              <a:ext uri="{FF2B5EF4-FFF2-40B4-BE49-F238E27FC236}">
                <a16:creationId xmlns:a16="http://schemas.microsoft.com/office/drawing/2014/main" id="{CEE8AB4C-7C91-6738-3A3B-232445EF7069}"/>
              </a:ext>
            </a:extLst>
          </p:cNvPr>
          <p:cNvSpPr txBox="1"/>
          <p:nvPr/>
        </p:nvSpPr>
        <p:spPr>
          <a:xfrm>
            <a:off x="10104260" y="2157656"/>
            <a:ext cx="1175002" cy="123111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wrap="none" lIns="0" tIns="0" rIns="0" bIns="0" rtlCol="0" anchor="ctr" anchorCtr="0">
            <a:spAutoFit/>
          </a:bodyPr>
          <a:lstStyle>
            <a:defPPr>
              <a:defRPr lang="ko-KR"/>
            </a:defPPr>
            <a:lvl1pPr marL="182563" indent="-182563" fontAlgn="base">
              <a:spcBef>
                <a:spcPct val="0"/>
              </a:spcBef>
              <a:spcAft>
                <a:spcPct val="0"/>
              </a:spcAft>
              <a:defRPr kumimoji="1" sz="800" b="0">
                <a:solidFill>
                  <a:srgbClr val="006600"/>
                </a:solidFill>
                <a:latin typeface="Arial Narrow" panose="020B0606020202030204" pitchFamily="34" charset="0"/>
                <a:ea typeface="돋움" pitchFamily="50" charset="-127"/>
                <a:cs typeface="Arial" pitchFamily="34" charset="0"/>
              </a:defRPr>
            </a:lvl1pPr>
          </a:lstStyle>
          <a:p>
            <a:pPr marL="182563" marR="0" lvl="0" indent="-182563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kern="0" dirty="0">
                <a:ea typeface="LG스마트체 Regular" panose="020B0600000101010101" pitchFamily="50" charset="-127"/>
              </a:rPr>
              <a:t>[5</a:t>
            </a:r>
            <a:r>
              <a:rPr lang="ko-KR" altLang="en-US" kern="0" dirty="0">
                <a:ea typeface="LG스마트체 Regular" panose="020B0600000101010101" pitchFamily="50" charset="-127"/>
              </a:rPr>
              <a:t>월 이동</a:t>
            </a:r>
            <a:r>
              <a:rPr lang="en-US" altLang="ko-KR" kern="0" dirty="0">
                <a:ea typeface="LG스마트체 Regular" panose="020B0600000101010101" pitchFamily="50" charset="-127"/>
              </a:rPr>
              <a:t>, 3</a:t>
            </a:r>
            <a:r>
              <a:rPr lang="ko-KR" altLang="en-US" kern="0" dirty="0">
                <a:ea typeface="LG스마트체 Regular" panose="020B0600000101010101" pitchFamily="50" charset="-127"/>
              </a:rPr>
              <a:t>분기 재료비 현황</a:t>
            </a:r>
            <a:r>
              <a:rPr lang="en-US" altLang="ko-KR" kern="0" dirty="0">
                <a:ea typeface="LG스마트체 Regular" panose="020B0600000101010101" pitchFamily="50" charset="-127"/>
              </a:rPr>
              <a:t>]</a:t>
            </a:r>
            <a:endParaRPr kumimoji="1" lang="en-US" altLang="ko-KR" b="0" i="0" u="none" strike="noStrike" kern="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ea typeface="LG스마트체 Regular" panose="020B0600000101010101" pitchFamily="50" charset="-127"/>
            </a:endParaRPr>
          </a:p>
        </p:txBody>
      </p:sp>
      <p:sp>
        <p:nvSpPr>
          <p:cNvPr id="130" name="내용 개체 틀 1">
            <a:extLst>
              <a:ext uri="{FF2B5EF4-FFF2-40B4-BE49-F238E27FC236}">
                <a16:creationId xmlns:a16="http://schemas.microsoft.com/office/drawing/2014/main" id="{3E05EE82-0039-1736-3F6E-5B2A40AF93D5}"/>
              </a:ext>
            </a:extLst>
          </p:cNvPr>
          <p:cNvSpPr txBox="1">
            <a:spLocks/>
          </p:cNvSpPr>
          <p:nvPr/>
        </p:nvSpPr>
        <p:spPr>
          <a:xfrm>
            <a:off x="10037349" y="4876837"/>
            <a:ext cx="2072102" cy="537070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spAutoFit/>
          </a:bodyPr>
          <a:lstStyle>
            <a:lvl1pPr marL="0" indent="0" algn="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723" b="1" kern="1200" baseline="0">
                <a:solidFill>
                  <a:schemeClr val="tx1"/>
                </a:solidFill>
                <a:latin typeface="Arial Narrow" pitchFamily="34" charset="0"/>
                <a:ea typeface="LG스마트체 Regular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20000"/>
              </a:lnSpc>
            </a:pPr>
            <a:r>
              <a:rPr lang="en-US" altLang="ko-KR" sz="1000" b="0" dirty="0">
                <a:solidFill>
                  <a:prstClr val="black">
                    <a:lumMod val="95000"/>
                    <a:lumOff val="5000"/>
                  </a:prstClr>
                </a:solidFill>
              </a:rPr>
              <a:t>- `26</a:t>
            </a:r>
            <a:r>
              <a:rPr lang="ko-KR" altLang="en-US" sz="1000" b="0" dirty="0">
                <a:solidFill>
                  <a:prstClr val="black">
                    <a:lumMod val="95000"/>
                    <a:lumOff val="5000"/>
                  </a:prstClr>
                </a:solidFill>
              </a:rPr>
              <a:t>년 </a:t>
            </a:r>
            <a:r>
              <a:rPr lang="en-US" altLang="ko-KR" sz="1000" b="0" dirty="0">
                <a:solidFill>
                  <a:prstClr val="black">
                    <a:lumMod val="95000"/>
                    <a:lumOff val="5000"/>
                  </a:prstClr>
                </a:solidFill>
              </a:rPr>
              <a:t>M70H, </a:t>
            </a:r>
            <a:r>
              <a:rPr lang="ko-KR" altLang="en-US" sz="1000" b="0" dirty="0">
                <a:solidFill>
                  <a:prstClr val="black">
                    <a:lumMod val="95000"/>
                    <a:lumOff val="5000"/>
                  </a:prstClr>
                </a:solidFill>
              </a:rPr>
              <a:t>① </a:t>
            </a:r>
            <a:r>
              <a:rPr lang="en-US" altLang="ko-KR" sz="1000" b="0" dirty="0">
                <a:solidFill>
                  <a:prstClr val="black">
                    <a:lumMod val="95000"/>
                    <a:lumOff val="5000"/>
                  </a:prstClr>
                </a:solidFill>
              </a:rPr>
              <a:t>QD Sheet </a:t>
            </a:r>
            <a:r>
              <a:rPr lang="ko-KR" altLang="en-US" sz="1000" b="0" dirty="0">
                <a:solidFill>
                  <a:prstClr val="black">
                    <a:lumMod val="95000"/>
                    <a:lumOff val="5000"/>
                  </a:prstClr>
                </a:solidFill>
              </a:rPr>
              <a:t>삭제</a:t>
            </a:r>
            <a:br>
              <a:rPr lang="en-US" altLang="ko-KR" sz="1000" b="0" dirty="0">
                <a:solidFill>
                  <a:prstClr val="black">
                    <a:lumMod val="95000"/>
                    <a:lumOff val="5000"/>
                  </a:prstClr>
                </a:solidFill>
              </a:rPr>
            </a:br>
            <a:r>
              <a:rPr lang="en-US" altLang="ko-KR" sz="1000" b="0" dirty="0">
                <a:solidFill>
                  <a:prstClr val="black">
                    <a:lumMod val="95000"/>
                    <a:lumOff val="5000"/>
                  </a:prstClr>
                </a:solidFill>
              </a:rPr>
              <a:t>                        </a:t>
            </a:r>
            <a:r>
              <a:rPr lang="ko-KR" altLang="en-US" sz="1000" b="0" dirty="0">
                <a:solidFill>
                  <a:prstClr val="black">
                    <a:lumMod val="95000"/>
                    <a:lumOff val="5000"/>
                  </a:prstClr>
                </a:solidFill>
              </a:rPr>
              <a:t>② </a:t>
            </a:r>
            <a:r>
              <a:rPr lang="en-US" altLang="ko-KR" sz="1000" b="0" dirty="0">
                <a:solidFill>
                  <a:prstClr val="black">
                    <a:lumMod val="95000"/>
                    <a:lumOff val="5000"/>
                  </a:prstClr>
                </a:solidFill>
              </a:rPr>
              <a:t>Q7F</a:t>
            </a:r>
            <a:r>
              <a:rPr lang="ko-KR" altLang="en-US" sz="1000" b="0" dirty="0">
                <a:solidFill>
                  <a:prstClr val="black">
                    <a:lumMod val="95000"/>
                    <a:lumOff val="5000"/>
                  </a:prstClr>
                </a:solidFill>
              </a:rPr>
              <a:t>비 </a:t>
            </a:r>
            <a:r>
              <a:rPr lang="en-US" altLang="ko-KR" sz="1000" b="0" dirty="0">
                <a:solidFill>
                  <a:prstClr val="black">
                    <a:lumMod val="95000"/>
                    <a:lumOff val="5000"/>
                  </a:prstClr>
                </a:solidFill>
              </a:rPr>
              <a:t>Spec </a:t>
            </a:r>
            <a:r>
              <a:rPr lang="ko-KR" altLang="en-US" sz="1000" b="0" dirty="0">
                <a:solidFill>
                  <a:prstClr val="black">
                    <a:lumMod val="95000"/>
                    <a:lumOff val="5000"/>
                  </a:prstClr>
                </a:solidFill>
              </a:rPr>
              <a:t>하향조정  </a:t>
            </a:r>
            <a:br>
              <a:rPr lang="en-US" altLang="ko-KR" sz="1000" b="0" dirty="0">
                <a:solidFill>
                  <a:prstClr val="black">
                    <a:lumMod val="95000"/>
                    <a:lumOff val="5000"/>
                  </a:prstClr>
                </a:solidFill>
              </a:rPr>
            </a:br>
            <a:r>
              <a:rPr lang="en-US" altLang="ko-KR" sz="1000" b="0" dirty="0">
                <a:solidFill>
                  <a:prstClr val="black">
                    <a:lumMod val="95000"/>
                    <a:lumOff val="5000"/>
                  </a:prstClr>
                </a:solidFill>
              </a:rPr>
              <a:t>                             </a:t>
            </a:r>
            <a:r>
              <a:rPr lang="en-US" altLang="ko-KR" sz="900" b="0" dirty="0">
                <a:solidFill>
                  <a:srgbClr val="006600"/>
                </a:solidFill>
              </a:rPr>
              <a:t>AI </a:t>
            </a:r>
            <a:r>
              <a:rPr lang="ko-KR" altLang="en-US" sz="900" b="0" dirty="0">
                <a:solidFill>
                  <a:srgbClr val="006600"/>
                </a:solidFill>
              </a:rPr>
              <a:t>음성인식 </a:t>
            </a:r>
            <a:r>
              <a:rPr lang="en-US" altLang="ko-KR" sz="900" b="0" dirty="0">
                <a:solidFill>
                  <a:srgbClr val="006600"/>
                </a:solidFill>
              </a:rPr>
              <a:t>Ready</a:t>
            </a:r>
          </a:p>
        </p:txBody>
      </p:sp>
      <p:sp>
        <p:nvSpPr>
          <p:cNvPr id="5" name="Text Box 1787">
            <a:extLst>
              <a:ext uri="{FF2B5EF4-FFF2-40B4-BE49-F238E27FC236}">
                <a16:creationId xmlns:a16="http://schemas.microsoft.com/office/drawing/2014/main" id="{94C31877-B8A1-63C3-777B-73F9ECD311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31117" y="2963975"/>
            <a:ext cx="2169986" cy="2336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58500" tIns="29250" rIns="58500" bIns="29250">
            <a:spAutoFit/>
          </a:bodyPr>
          <a:lstStyle>
            <a:lvl1pPr eaLnBrk="0" hangingPunct="0">
              <a:defRPr kumimoji="1" sz="1200" b="1">
                <a:solidFill>
                  <a:schemeClr val="tx1"/>
                </a:solidFill>
                <a:latin typeface="Arial" charset="0"/>
                <a:ea typeface="돋움" pitchFamily="50" charset="-127"/>
                <a:sym typeface="Wingdings" pitchFamily="2" charset="2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Arial" charset="0"/>
                <a:ea typeface="돋움" pitchFamily="50" charset="-127"/>
                <a:sym typeface="Wingdings" pitchFamily="2" charset="2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Arial" charset="0"/>
                <a:ea typeface="돋움" pitchFamily="50" charset="-127"/>
                <a:sym typeface="Wingdings" pitchFamily="2" charset="2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Arial" charset="0"/>
                <a:ea typeface="돋움" pitchFamily="50" charset="-127"/>
                <a:sym typeface="Wingdings" pitchFamily="2" charset="2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Arial" charset="0"/>
                <a:ea typeface="돋움" pitchFamily="50" charset="-127"/>
                <a:sym typeface="Wingdings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200" b="1">
                <a:solidFill>
                  <a:schemeClr val="tx1"/>
                </a:solidFill>
                <a:latin typeface="Arial" charset="0"/>
                <a:ea typeface="돋움" pitchFamily="50" charset="-127"/>
                <a:sym typeface="Wingdings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200" b="1">
                <a:solidFill>
                  <a:schemeClr val="tx1"/>
                </a:solidFill>
                <a:latin typeface="Arial" charset="0"/>
                <a:ea typeface="돋움" pitchFamily="50" charset="-127"/>
                <a:sym typeface="Wingdings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200" b="1">
                <a:solidFill>
                  <a:schemeClr val="tx1"/>
                </a:solidFill>
                <a:latin typeface="Arial" charset="0"/>
                <a:ea typeface="돋움" pitchFamily="50" charset="-127"/>
                <a:sym typeface="Wingdings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200" b="1">
                <a:solidFill>
                  <a:schemeClr val="tx1"/>
                </a:solidFill>
                <a:latin typeface="Arial" charset="0"/>
                <a:ea typeface="돋움" pitchFamily="50" charset="-127"/>
                <a:sym typeface="Wingdings" pitchFamily="2" charset="2"/>
              </a:defRPr>
            </a:lvl9pPr>
          </a:lstStyle>
          <a:p>
            <a:pPr marL="87750" indent="-146250" defTabSz="742931" eaLnBrk="1" hangingPunct="1">
              <a:lnSpc>
                <a:spcPct val="110000"/>
              </a:lnSpc>
              <a:spcBef>
                <a:spcPts val="244"/>
              </a:spcBef>
              <a:buFont typeface="Wingdings" panose="05000000000000000000" pitchFamily="2" charset="2"/>
              <a:buChar char=""/>
            </a:pPr>
            <a:r>
              <a:rPr lang="en-US" altLang="ko-KR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  MRGB85 &amp; QNED90/85 </a:t>
            </a:r>
            <a:r>
              <a:rPr lang="ko-KR" altLang="en-US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포지셔닝</a:t>
            </a:r>
            <a:endParaRPr lang="en-US" altLang="ko-KR" sz="1100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3DD75BD8-A7DD-DFEA-737F-40740FA950A4}"/>
              </a:ext>
            </a:extLst>
          </p:cNvPr>
          <p:cNvSpPr/>
          <p:nvPr/>
        </p:nvSpPr>
        <p:spPr>
          <a:xfrm>
            <a:off x="9796817" y="2992322"/>
            <a:ext cx="179114" cy="176977"/>
          </a:xfrm>
          <a:prstGeom prst="roundRect">
            <a:avLst/>
          </a:prstGeom>
          <a:solidFill>
            <a:schemeClr val="tx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2</a:t>
            </a:r>
            <a:endParaRPr lang="ko-KR" altLang="en-US" sz="1100" b="1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7" name="내용 개체 틀 1">
            <a:extLst>
              <a:ext uri="{FF2B5EF4-FFF2-40B4-BE49-F238E27FC236}">
                <a16:creationId xmlns:a16="http://schemas.microsoft.com/office/drawing/2014/main" id="{4FD3EED1-9D69-422D-BD1E-548EDB1ED08D}"/>
              </a:ext>
            </a:extLst>
          </p:cNvPr>
          <p:cNvSpPr txBox="1">
            <a:spLocks/>
          </p:cNvSpPr>
          <p:nvPr/>
        </p:nvSpPr>
        <p:spPr>
          <a:xfrm>
            <a:off x="10037349" y="3200626"/>
            <a:ext cx="2072102" cy="908967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spAutoFit/>
          </a:bodyPr>
          <a:lstStyle>
            <a:lvl1pPr marL="0" indent="0" algn="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723" b="1" kern="1200" baseline="0">
                <a:solidFill>
                  <a:schemeClr val="tx1"/>
                </a:solidFill>
                <a:latin typeface="Arial Narrow" pitchFamily="34" charset="0"/>
                <a:ea typeface="LG스마트체 Regular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20000"/>
              </a:lnSpc>
            </a:pPr>
            <a:r>
              <a:rPr lang="en-US" altLang="ko-KR" sz="1000" b="0" dirty="0">
                <a:solidFill>
                  <a:prstClr val="black">
                    <a:lumMod val="95000"/>
                    <a:lumOff val="5000"/>
                  </a:prstClr>
                </a:solidFill>
              </a:rPr>
              <a:t>- QNED90 vs QN80H ATA 100 </a:t>
            </a:r>
            <a:r>
              <a:rPr lang="ko-KR" altLang="en-US" sz="1000" b="0" dirty="0">
                <a:solidFill>
                  <a:prstClr val="black">
                    <a:lumMod val="95000"/>
                    <a:lumOff val="5000"/>
                  </a:prstClr>
                </a:solidFill>
              </a:rPr>
              <a:t>운영</a:t>
            </a:r>
            <a:br>
              <a:rPr lang="en-US" altLang="ko-KR" sz="1000" b="0" dirty="0">
                <a:solidFill>
                  <a:prstClr val="black">
                    <a:lumMod val="95000"/>
                    <a:lumOff val="5000"/>
                  </a:prstClr>
                </a:solidFill>
              </a:rPr>
            </a:br>
            <a:r>
              <a:rPr lang="en-US" altLang="ko-KR" sz="1000" b="0" dirty="0">
                <a:solidFill>
                  <a:prstClr val="black">
                    <a:lumMod val="95000"/>
                    <a:lumOff val="5000"/>
                  </a:prstClr>
                </a:solidFill>
              </a:rPr>
              <a:t>  (QNED85</a:t>
            </a:r>
            <a:r>
              <a:rPr lang="ko-KR" altLang="en-US" sz="1000" b="0" dirty="0">
                <a:solidFill>
                  <a:prstClr val="black">
                    <a:lumMod val="95000"/>
                    <a:lumOff val="5000"/>
                  </a:prstClr>
                </a:solidFill>
              </a:rPr>
              <a:t> </a:t>
            </a:r>
            <a:r>
              <a:rPr lang="en-US" altLang="ko-KR" sz="1000" b="0" dirty="0">
                <a:solidFill>
                  <a:prstClr val="black">
                    <a:lumMod val="95000"/>
                    <a:lumOff val="5000"/>
                  </a:prstClr>
                </a:solidFill>
              </a:rPr>
              <a:t>= QNED90 </a:t>
            </a:r>
            <a:r>
              <a:rPr lang="ko-KR" altLang="en-US" sz="1000" b="0" dirty="0">
                <a:solidFill>
                  <a:prstClr val="black">
                    <a:lumMod val="95000"/>
                    <a:lumOff val="5000"/>
                  </a:prstClr>
                </a:solidFill>
              </a:rPr>
              <a:t>동등 수준 운영</a:t>
            </a:r>
            <a:r>
              <a:rPr lang="en-US" altLang="ko-KR" sz="1000" b="0" dirty="0">
                <a:solidFill>
                  <a:prstClr val="black">
                    <a:lumMod val="95000"/>
                    <a:lumOff val="5000"/>
                  </a:prstClr>
                </a:solidFill>
              </a:rPr>
              <a:t>)</a:t>
            </a:r>
            <a:br>
              <a:rPr lang="en-US" altLang="ko-KR" sz="900" b="0" dirty="0">
                <a:solidFill>
                  <a:srgbClr val="006600"/>
                </a:solidFill>
              </a:rPr>
            </a:br>
            <a:r>
              <a:rPr lang="en-US" altLang="ko-KR" sz="1000" b="0" dirty="0">
                <a:solidFill>
                  <a:prstClr val="black">
                    <a:lumMod val="95000"/>
                    <a:lumOff val="5000"/>
                  </a:prstClr>
                </a:solidFill>
              </a:rPr>
              <a:t>- MRGB85 </a:t>
            </a:r>
            <a:r>
              <a:rPr lang="ko-KR" altLang="en-US" sz="1000" b="0" dirty="0">
                <a:solidFill>
                  <a:prstClr val="black">
                    <a:lumMod val="95000"/>
                    <a:lumOff val="5000"/>
                  </a:prstClr>
                </a:solidFill>
              </a:rPr>
              <a:t>중장기 </a:t>
            </a:r>
            <a:r>
              <a:rPr lang="en-US" altLang="ko-KR" sz="1000" b="0" dirty="0">
                <a:solidFill>
                  <a:prstClr val="black">
                    <a:lumMod val="95000"/>
                    <a:lumOff val="5000"/>
                  </a:prstClr>
                </a:solidFill>
              </a:rPr>
              <a:t>PRM </a:t>
            </a:r>
            <a:r>
              <a:rPr lang="ko-KR" altLang="en-US" sz="1000" b="0" dirty="0">
                <a:solidFill>
                  <a:prstClr val="black">
                    <a:lumMod val="95000"/>
                    <a:lumOff val="5000"/>
                  </a:prstClr>
                </a:solidFill>
              </a:rPr>
              <a:t>수립 관점</a:t>
            </a:r>
            <a:br>
              <a:rPr lang="en-US" altLang="ko-KR" sz="1000" b="0" dirty="0">
                <a:solidFill>
                  <a:prstClr val="black">
                    <a:lumMod val="95000"/>
                    <a:lumOff val="5000"/>
                  </a:prstClr>
                </a:solidFill>
              </a:rPr>
            </a:br>
            <a:r>
              <a:rPr lang="en-US" altLang="ko-KR" sz="1000" b="0" dirty="0">
                <a:solidFill>
                  <a:prstClr val="black">
                    <a:lumMod val="95000"/>
                    <a:lumOff val="5000"/>
                  </a:prstClr>
                </a:solidFill>
              </a:rPr>
              <a:t>  Good-Better-Best </a:t>
            </a:r>
            <a:r>
              <a:rPr lang="ko-KR" altLang="en-US" sz="1000" b="0" dirty="0">
                <a:solidFill>
                  <a:prstClr val="black">
                    <a:lumMod val="95000"/>
                    <a:lumOff val="5000"/>
                  </a:prstClr>
                </a:solidFill>
              </a:rPr>
              <a:t>로직 기반</a:t>
            </a:r>
            <a:br>
              <a:rPr lang="en-US" altLang="ko-KR" sz="1000" b="0" dirty="0">
                <a:solidFill>
                  <a:prstClr val="black">
                    <a:lumMod val="95000"/>
                    <a:lumOff val="5000"/>
                  </a:prstClr>
                </a:solidFill>
              </a:rPr>
            </a:br>
            <a:r>
              <a:rPr lang="en-US" altLang="ko-KR" sz="1000" b="0" dirty="0">
                <a:solidFill>
                  <a:prstClr val="black">
                    <a:lumMod val="95000"/>
                    <a:lumOff val="5000"/>
                  </a:prstClr>
                </a:solidFill>
              </a:rPr>
              <a:t>  QNED85 </a:t>
            </a:r>
            <a:r>
              <a:rPr lang="ko-KR" altLang="en-US" sz="1000" b="0" dirty="0">
                <a:solidFill>
                  <a:prstClr val="black">
                    <a:lumMod val="95000"/>
                    <a:lumOff val="5000"/>
                  </a:prstClr>
                </a:solidFill>
              </a:rPr>
              <a:t>대비 </a:t>
            </a:r>
            <a:r>
              <a:rPr lang="en-US" altLang="ko-KR" sz="1000" b="0" dirty="0">
                <a:solidFill>
                  <a:prstClr val="black">
                    <a:lumMod val="95000"/>
                    <a:lumOff val="5000"/>
                  </a:prstClr>
                </a:solidFill>
              </a:rPr>
              <a:t>$200 </a:t>
            </a:r>
            <a:r>
              <a:rPr lang="ko-KR" altLang="en-US" sz="1000" b="0" dirty="0">
                <a:solidFill>
                  <a:prstClr val="black">
                    <a:lumMod val="95000"/>
                    <a:lumOff val="5000"/>
                  </a:prstClr>
                </a:solidFill>
              </a:rPr>
              <a:t>프리미엄 운영</a:t>
            </a:r>
            <a:endParaRPr lang="en-US" altLang="ko-KR" sz="1000" b="0" dirty="0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9B81F422-2840-31FD-018E-337F34C7E4DD}"/>
              </a:ext>
            </a:extLst>
          </p:cNvPr>
          <p:cNvCxnSpPr>
            <a:stCxn id="126" idx="2"/>
            <a:endCxn id="93" idx="0"/>
          </p:cNvCxnSpPr>
          <p:nvPr/>
        </p:nvCxnSpPr>
        <p:spPr>
          <a:xfrm>
            <a:off x="3489399" y="1747909"/>
            <a:ext cx="0" cy="368772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030BB4E8-5816-594C-6E72-0376FDCC9D5C}"/>
              </a:ext>
            </a:extLst>
          </p:cNvPr>
          <p:cNvSpPr txBox="1"/>
          <p:nvPr/>
        </p:nvSpPr>
        <p:spPr>
          <a:xfrm>
            <a:off x="3027076" y="3182690"/>
            <a:ext cx="963405" cy="13849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wrap="square" lIns="0" tIns="0" rIns="0" bIns="0" rtlCol="0" anchor="ctr" anchorCtr="0">
            <a:spAutoFit/>
          </a:bodyPr>
          <a:lstStyle>
            <a:defPPr>
              <a:defRPr lang="ko-KR"/>
            </a:defPPr>
            <a:lvl1pPr marL="182563" indent="-182563" fontAlgn="base">
              <a:spcBef>
                <a:spcPct val="0"/>
              </a:spcBef>
              <a:spcAft>
                <a:spcPct val="0"/>
              </a:spcAft>
              <a:defRPr kumimoji="1" sz="800" b="0">
                <a:solidFill>
                  <a:srgbClr val="006600"/>
                </a:solidFill>
                <a:latin typeface="Arial Narrow" panose="020B0606020202030204" pitchFamily="34" charset="0"/>
                <a:ea typeface="돋움" pitchFamily="50" charset="-127"/>
                <a:cs typeface="Arial" pitchFamily="34" charset="0"/>
              </a:defRPr>
            </a:lvl1pPr>
          </a:lstStyle>
          <a:p>
            <a:pPr marL="182563" marR="0" lvl="0" indent="-182563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ea typeface="LG스마트체 Regular" panose="020B0600000101010101" pitchFamily="50" charset="-127"/>
              </a:rPr>
              <a:t>* </a:t>
            </a:r>
            <a:r>
              <a:rPr kumimoji="1" lang="ko-KR" altLang="en-US" sz="900" b="0" i="0" u="sng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ea typeface="LG스마트체 Regular" panose="020B0600000101010101" pitchFamily="50" charset="-127"/>
              </a:rPr>
              <a:t>북미 </a:t>
            </a:r>
            <a:r>
              <a:rPr kumimoji="1" lang="en-US" altLang="ko-KR" sz="900" b="0" i="0" u="sng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ea typeface="LG스마트체 Regular" panose="020B0600000101010101" pitchFamily="50" charset="-127"/>
              </a:rPr>
              <a:t>/ </a:t>
            </a:r>
            <a:r>
              <a:rPr kumimoji="1" lang="ko-KR" altLang="en-US" sz="900" b="0" i="0" u="sng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ea typeface="LG스마트체 Regular" panose="020B0600000101010101" pitchFamily="50" charset="-127"/>
              </a:rPr>
              <a:t>유럽 </a:t>
            </a:r>
            <a:r>
              <a:rPr kumimoji="1" lang="en-US" altLang="ko-KR" sz="900" b="0" i="0" u="sng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ea typeface="LG스마트체 Regular" panose="020B0600000101010101" pitchFamily="50" charset="-127"/>
              </a:rPr>
              <a:t>Only</a:t>
            </a:r>
          </a:p>
        </p:txBody>
      </p:sp>
      <p:sp>
        <p:nvSpPr>
          <p:cNvPr id="37" name="AutoShape 9">
            <a:extLst>
              <a:ext uri="{FF2B5EF4-FFF2-40B4-BE49-F238E27FC236}">
                <a16:creationId xmlns:a16="http://schemas.microsoft.com/office/drawing/2014/main" id="{815E8780-EEB0-8999-0935-C1B3EA3881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8716" y="2271756"/>
            <a:ext cx="445156" cy="325582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3175" algn="ctr">
            <a:solidFill>
              <a:srgbClr val="5F5F5F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119693" tIns="59844" rIns="119693" bIns="59844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sym typeface="Wingdings" pitchFamily="2" charset="2"/>
              </a:rPr>
              <a:t>QNED</a:t>
            </a:r>
            <a:endParaRPr kumimoji="1" lang="en-US" altLang="ko-KR" sz="1200" b="1" kern="0" dirty="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  <a:sym typeface="Wingdings" pitchFamily="2" charset="2"/>
            </a:endParaRPr>
          </a:p>
        </p:txBody>
      </p: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06B03E8D-6CF0-47FF-4746-4360D395BA02}"/>
              </a:ext>
            </a:extLst>
          </p:cNvPr>
          <p:cNvCxnSpPr>
            <a:cxnSpLocks/>
          </p:cNvCxnSpPr>
          <p:nvPr/>
        </p:nvCxnSpPr>
        <p:spPr>
          <a:xfrm>
            <a:off x="5303872" y="2199586"/>
            <a:ext cx="4196263" cy="0"/>
          </a:xfrm>
          <a:prstGeom prst="straightConnector1">
            <a:avLst/>
          </a:prstGeom>
          <a:ln w="6350">
            <a:solidFill>
              <a:schemeClr val="bg1">
                <a:lumMod val="85000"/>
              </a:schemeClr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EA0226B5-E015-8A71-5428-1972620BEC66}"/>
              </a:ext>
            </a:extLst>
          </p:cNvPr>
          <p:cNvCxnSpPr>
            <a:cxnSpLocks/>
          </p:cNvCxnSpPr>
          <p:nvPr/>
        </p:nvCxnSpPr>
        <p:spPr>
          <a:xfrm>
            <a:off x="8296532" y="2125366"/>
            <a:ext cx="0" cy="368772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4115F645-F4E6-B6AE-18EC-17DAB6D3F725}"/>
              </a:ext>
            </a:extLst>
          </p:cNvPr>
          <p:cNvSpPr txBox="1"/>
          <p:nvPr/>
        </p:nvSpPr>
        <p:spPr>
          <a:xfrm>
            <a:off x="8279767" y="2240503"/>
            <a:ext cx="1696164" cy="13849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wrap="square" lIns="0" tIns="0" rIns="0" bIns="0" rtlCol="0" anchor="ctr" anchorCtr="0">
            <a:spAutoFit/>
          </a:bodyPr>
          <a:lstStyle>
            <a:defPPr>
              <a:defRPr lang="ko-KR"/>
            </a:defPPr>
            <a:lvl1pPr marL="182563" indent="-182563" fontAlgn="base">
              <a:spcBef>
                <a:spcPct val="0"/>
              </a:spcBef>
              <a:spcAft>
                <a:spcPct val="0"/>
              </a:spcAft>
              <a:defRPr kumimoji="1" sz="800" b="0">
                <a:solidFill>
                  <a:srgbClr val="006600"/>
                </a:solidFill>
                <a:latin typeface="Arial Narrow" panose="020B0606020202030204" pitchFamily="34" charset="0"/>
                <a:ea typeface="돋움" pitchFamily="50" charset="-127"/>
                <a:cs typeface="Arial" pitchFamily="34" charset="0"/>
              </a:defRPr>
            </a:lvl1pPr>
          </a:lstStyle>
          <a:p>
            <a:pPr marL="182563" marR="0" lvl="0" indent="-182563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ea typeface="LG스마트체 Regular" panose="020B0600000101010101" pitchFamily="50" charset="-127"/>
              </a:rPr>
              <a:t>75” $300 / 65” $200 / 55” $100 Gap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1DC5303-1769-EA44-CDF7-2EA04A8452F6}"/>
              </a:ext>
            </a:extLst>
          </p:cNvPr>
          <p:cNvSpPr txBox="1"/>
          <p:nvPr/>
        </p:nvSpPr>
        <p:spPr>
          <a:xfrm>
            <a:off x="8279767" y="1567043"/>
            <a:ext cx="1696164" cy="13849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wrap="square" lIns="0" tIns="0" rIns="0" bIns="0" rtlCol="0" anchor="ctr" anchorCtr="0">
            <a:spAutoFit/>
          </a:bodyPr>
          <a:lstStyle>
            <a:defPPr>
              <a:defRPr lang="ko-KR"/>
            </a:defPPr>
            <a:lvl1pPr marL="182563" indent="-182563" fontAlgn="base">
              <a:spcBef>
                <a:spcPct val="0"/>
              </a:spcBef>
              <a:spcAft>
                <a:spcPct val="0"/>
              </a:spcAft>
              <a:defRPr kumimoji="1" sz="800" b="0">
                <a:solidFill>
                  <a:srgbClr val="006600"/>
                </a:solidFill>
                <a:latin typeface="Arial Narrow" panose="020B0606020202030204" pitchFamily="34" charset="0"/>
                <a:ea typeface="돋움" pitchFamily="50" charset="-127"/>
                <a:cs typeface="Arial" pitchFamily="34" charset="0"/>
              </a:defRPr>
            </a:lvl1pPr>
          </a:lstStyle>
          <a:p>
            <a:pPr marL="182563" marR="0" lvl="0" indent="-182563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ea typeface="LG스마트체 Regular" panose="020B0600000101010101" pitchFamily="50" charset="-127"/>
              </a:rPr>
              <a:t>75” $500 / 65” $300 / 55” $200 Gap</a:t>
            </a:r>
          </a:p>
        </p:txBody>
      </p: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7D32BF56-E838-7311-7DCE-6BE030D63371}"/>
              </a:ext>
            </a:extLst>
          </p:cNvPr>
          <p:cNvCxnSpPr>
            <a:cxnSpLocks/>
          </p:cNvCxnSpPr>
          <p:nvPr/>
        </p:nvCxnSpPr>
        <p:spPr>
          <a:xfrm>
            <a:off x="8279767" y="1528088"/>
            <a:ext cx="0" cy="216409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직사각형 51">
            <a:hlinkClick r:id="" action="ppaction://noaction"/>
            <a:extLst>
              <a:ext uri="{FF2B5EF4-FFF2-40B4-BE49-F238E27FC236}">
                <a16:creationId xmlns:a16="http://schemas.microsoft.com/office/drawing/2014/main" id="{E82A888F-8EEE-801B-F752-697D28BEB6FB}"/>
              </a:ext>
            </a:extLst>
          </p:cNvPr>
          <p:cNvSpPr/>
          <p:nvPr/>
        </p:nvSpPr>
        <p:spPr>
          <a:xfrm>
            <a:off x="7946154" y="1319786"/>
            <a:ext cx="667226" cy="206731"/>
          </a:xfrm>
          <a:prstGeom prst="rect">
            <a:avLst/>
          </a:prstGeom>
          <a:solidFill>
            <a:srgbClr val="FF0000">
              <a:alpha val="15000"/>
            </a:srgbClr>
          </a:solidFill>
          <a:ln w="3175" cap="flat" cmpd="sng" algn="ctr">
            <a:solidFill>
              <a:schemeClr val="bg1">
                <a:lumMod val="85000"/>
              </a:schemeClr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45714" rIns="0" bIns="45714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-</a:t>
            </a:r>
            <a:endParaRPr kumimoji="1" lang="ko-KR" altLang="en-US" sz="12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3A286A0-CB0E-B52C-D40F-E434E754AE82}"/>
              </a:ext>
            </a:extLst>
          </p:cNvPr>
          <p:cNvSpPr txBox="1"/>
          <p:nvPr/>
        </p:nvSpPr>
        <p:spPr>
          <a:xfrm>
            <a:off x="8919038" y="3320871"/>
            <a:ext cx="633610" cy="138499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</a:ln>
          <a:effectLst/>
        </p:spPr>
        <p:txBody>
          <a:bodyPr wrap="square" lIns="0" tIns="0" rIns="0" bIns="0" rtlCol="0" anchor="ctr" anchorCtr="0">
            <a:spAutoFit/>
          </a:bodyPr>
          <a:lstStyle>
            <a:defPPr>
              <a:defRPr lang="ko-KR"/>
            </a:defPPr>
            <a:lvl1pPr marL="182563" indent="-182563" fontAlgn="base">
              <a:spcBef>
                <a:spcPct val="0"/>
              </a:spcBef>
              <a:spcAft>
                <a:spcPct val="0"/>
              </a:spcAft>
              <a:defRPr kumimoji="1" sz="800" b="0">
                <a:solidFill>
                  <a:srgbClr val="006600"/>
                </a:solidFill>
                <a:latin typeface="Arial Narrow" panose="020B0606020202030204" pitchFamily="34" charset="0"/>
                <a:ea typeface="돋움" pitchFamily="50" charset="-127"/>
                <a:cs typeface="Arial" pitchFamily="34" charset="0"/>
              </a:defRPr>
            </a:lvl1pPr>
          </a:lstStyle>
          <a:p>
            <a:pPr marL="182563" marR="0" lvl="0" indent="-182563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900" i="0" u="none" strike="noStrike" kern="0" cap="none" spc="0" normalizeH="0" baseline="0" noProof="0" dirty="0" err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ea typeface="LG스마트체 Regular" panose="020B0600000101010101" pitchFamily="50" charset="-127"/>
              </a:rPr>
              <a:t>동일포지셔닝</a:t>
            </a:r>
            <a:endParaRPr kumimoji="1" lang="en-US" altLang="ko-KR" sz="900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ea typeface="LG스마트체 Regular" panose="020B0600000101010101" pitchFamily="50" charset="-127"/>
            </a:endParaRPr>
          </a:p>
        </p:txBody>
      </p:sp>
      <p:sp>
        <p:nvSpPr>
          <p:cNvPr id="10" name="TextBox 9">
            <a:hlinkClick r:id="" action="ppaction://noaction"/>
            <a:extLst>
              <a:ext uri="{FF2B5EF4-FFF2-40B4-BE49-F238E27FC236}">
                <a16:creationId xmlns:a16="http://schemas.microsoft.com/office/drawing/2014/main" id="{981AC4F2-FB0D-B046-342D-639D55368072}"/>
              </a:ext>
            </a:extLst>
          </p:cNvPr>
          <p:cNvSpPr txBox="1"/>
          <p:nvPr/>
        </p:nvSpPr>
        <p:spPr>
          <a:xfrm>
            <a:off x="11781212" y="4165236"/>
            <a:ext cx="274113" cy="123111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wrap="none" lIns="0" tIns="0" rIns="0" bIns="0" rtlCol="0" anchor="ctr" anchorCtr="0">
            <a:spAutoFit/>
          </a:bodyPr>
          <a:lstStyle>
            <a:defPPr>
              <a:defRPr lang="ko-KR"/>
            </a:defPPr>
            <a:lvl1pPr marL="182563" indent="-182563" fontAlgn="base">
              <a:spcBef>
                <a:spcPct val="0"/>
              </a:spcBef>
              <a:spcAft>
                <a:spcPct val="0"/>
              </a:spcAft>
              <a:defRPr kumimoji="1" sz="800" b="0">
                <a:solidFill>
                  <a:srgbClr val="006600"/>
                </a:solidFill>
                <a:latin typeface="Arial Narrow" panose="020B0606020202030204" pitchFamily="34" charset="0"/>
                <a:ea typeface="돋움" pitchFamily="50" charset="-127"/>
                <a:cs typeface="Arial" pitchFamily="34" charset="0"/>
              </a:defRPr>
            </a:lvl1pPr>
          </a:lstStyle>
          <a:p>
            <a:pPr marL="182563" marR="0" lvl="0" indent="-182563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i="0" u="sng" strike="noStrike" kern="0" cap="none" spc="0" normalizeH="0" baseline="0" noProof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ea typeface="LG스마트체 Regular" panose="020B0600000101010101" pitchFamily="50" charset="-127"/>
              </a:rPr>
              <a:t>점검안</a:t>
            </a:r>
            <a:endParaRPr kumimoji="1" lang="en-US" altLang="ko-KR" i="0" u="sng" strike="noStrike" kern="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ea typeface="LG스마트체 Regular" panose="020B0600000101010101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3BC1437-E5DE-7501-CC21-622589654E34}"/>
              </a:ext>
            </a:extLst>
          </p:cNvPr>
          <p:cNvSpPr txBox="1"/>
          <p:nvPr/>
        </p:nvSpPr>
        <p:spPr>
          <a:xfrm>
            <a:off x="11782438" y="3974736"/>
            <a:ext cx="327013" cy="123111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wrap="none" lIns="0" tIns="0" rIns="0" bIns="0" rtlCol="0" anchor="ctr" anchorCtr="0">
            <a:spAutoFit/>
          </a:bodyPr>
          <a:lstStyle>
            <a:defPPr>
              <a:defRPr lang="ko-KR"/>
            </a:defPPr>
            <a:lvl1pPr marL="182563" indent="-182563" fontAlgn="base">
              <a:spcBef>
                <a:spcPct val="0"/>
              </a:spcBef>
              <a:spcAft>
                <a:spcPct val="0"/>
              </a:spcAft>
              <a:defRPr kumimoji="1" sz="800" b="0">
                <a:solidFill>
                  <a:srgbClr val="006600"/>
                </a:solidFill>
                <a:latin typeface="Arial Narrow" panose="020B0606020202030204" pitchFamily="34" charset="0"/>
                <a:ea typeface="돋움" pitchFamily="50" charset="-127"/>
                <a:cs typeface="Arial" pitchFamily="34" charset="0"/>
              </a:defRPr>
            </a:lvl1pPr>
          </a:lstStyle>
          <a:p>
            <a:pPr marL="182563" marR="0" lvl="0" indent="-182563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kern="0" dirty="0">
                <a:ea typeface="LG스마트체 Regular" panose="020B0600000101010101" pitchFamily="50" charset="-127"/>
              </a:rPr>
              <a:t>65” </a:t>
            </a:r>
            <a:r>
              <a:rPr lang="ko-KR" altLang="en-US" kern="0" dirty="0">
                <a:ea typeface="LG스마트체 Regular" panose="020B0600000101010101" pitchFamily="50" charset="-127"/>
              </a:rPr>
              <a:t>기준</a:t>
            </a:r>
            <a:endParaRPr kumimoji="1" lang="en-US" altLang="ko-KR" b="0" i="0" u="none" strike="noStrike" kern="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ea typeface="LG스마트체 Regular" panose="020B0600000101010101" pitchFamily="50" charset="-127"/>
            </a:endParaRPr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59FA97B5-FD04-D016-FF8C-7EEC63EDB315}"/>
              </a:ext>
            </a:extLst>
          </p:cNvPr>
          <p:cNvCxnSpPr>
            <a:cxnSpLocks/>
          </p:cNvCxnSpPr>
          <p:nvPr/>
        </p:nvCxnSpPr>
        <p:spPr>
          <a:xfrm>
            <a:off x="7060727" y="3116486"/>
            <a:ext cx="756000" cy="0"/>
          </a:xfrm>
          <a:prstGeom prst="straightConnector1">
            <a:avLst/>
          </a:prstGeom>
          <a:ln w="34925">
            <a:solidFill>
              <a:schemeClr val="bg1">
                <a:lumMod val="85000"/>
              </a:schemeClr>
            </a:solidFill>
            <a:headEnd type="triangle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타원 16">
            <a:extLst>
              <a:ext uri="{FF2B5EF4-FFF2-40B4-BE49-F238E27FC236}">
                <a16:creationId xmlns:a16="http://schemas.microsoft.com/office/drawing/2014/main" id="{35E077FA-3EA1-9F29-27A3-6C9CD09278CC}"/>
              </a:ext>
            </a:extLst>
          </p:cNvPr>
          <p:cNvSpPr/>
          <p:nvPr/>
        </p:nvSpPr>
        <p:spPr>
          <a:xfrm>
            <a:off x="7281837" y="3022170"/>
            <a:ext cx="349200" cy="209409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100" i="1" dirty="0">
                <a:solidFill>
                  <a:schemeClr val="bg1"/>
                </a:solidFill>
                <a:latin typeface="Arial Narrow" panose="020B0606020202030204" pitchFamily="34" charset="0"/>
              </a:rPr>
              <a:t>100</a:t>
            </a:r>
            <a:endParaRPr lang="ko-KR" altLang="en-US" sz="1100" i="1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419913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Ygvq1M2.EyBUP7tLxyS1w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Jsad5fQtC0C2ch4FXRCTwg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Ygvq1M2.EyBUP7tLxyS1w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Jsad5fQtC0C2ch4FXRCTwg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Ygvq1M2.EyBUP7tLxyS1w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Jsad5fQtC0C2ch4FXRCTwg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Ygvq1M2.EyBUP7tLxyS1w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Jsad5fQtC0C2ch4FXRCTwg"/>
</p:tagLst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cc6ed9fc-fefc-4a0c-a6d6-10cf236c0d4f}" enabled="1" method="Standard" siteId="{5069cde4-642a-45c0-8094-d0c2dec10be3}" contentBits="1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6754</TotalTime>
  <Words>586</Words>
  <Application>Microsoft Office PowerPoint</Application>
  <PresentationFormat>와이드스크린</PresentationFormat>
  <Paragraphs>197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8" baseType="lpstr">
      <vt:lpstr>LG스마트체 Regular</vt:lpstr>
      <vt:lpstr>맑은 고딕</vt:lpstr>
      <vt:lpstr>Arial</vt:lpstr>
      <vt:lpstr>Arial Narrow</vt:lpstr>
      <vt:lpstr>Calibri</vt:lpstr>
      <vt:lpstr>Wingdings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김승범/팀장/디스플레이해외영업기획팀</dc:creator>
  <cp:lastModifiedBy>박대호/책임/TV유럽영업2팀</cp:lastModifiedBy>
  <cp:revision>146</cp:revision>
  <dcterms:created xsi:type="dcterms:W3CDTF">2026-01-27T03:53:55Z</dcterms:created>
  <dcterms:modified xsi:type="dcterms:W3CDTF">2026-07-26T00:31:47Z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c6ed9fc-fefc-4a0c-a6d6-10cf236c0d4f_Enabled">
    <vt:lpwstr>true</vt:lpwstr>
  </property>
  <property fmtid="{D5CDD505-2E9C-101B-9397-08002B2CF9AE}" pid="3" name="MSIP_Label_cc6ed9fc-fefc-4a0c-a6d6-10cf236c0d4f_SetDate">
    <vt:lpwstr>2026-01-27T05:02:17Z</vt:lpwstr>
  </property>
  <property fmtid="{D5CDD505-2E9C-101B-9397-08002B2CF9AE}" pid="4" name="MSIP_Label_cc6ed9fc-fefc-4a0c-a6d6-10cf236c0d4f_Method">
    <vt:lpwstr>Standard</vt:lpwstr>
  </property>
  <property fmtid="{D5CDD505-2E9C-101B-9397-08002B2CF9AE}" pid="5" name="MSIP_Label_cc6ed9fc-fefc-4a0c-a6d6-10cf236c0d4f_Name">
    <vt:lpwstr>Internal use only</vt:lpwstr>
  </property>
  <property fmtid="{D5CDD505-2E9C-101B-9397-08002B2CF9AE}" pid="6" name="MSIP_Label_cc6ed9fc-fefc-4a0c-a6d6-10cf236c0d4f_SiteId">
    <vt:lpwstr>5069cde4-642a-45c0-8094-d0c2dec10be3</vt:lpwstr>
  </property>
  <property fmtid="{D5CDD505-2E9C-101B-9397-08002B2CF9AE}" pid="7" name="MSIP_Label_cc6ed9fc-fefc-4a0c-a6d6-10cf236c0d4f_ActionId">
    <vt:lpwstr>c4252db4-0d77-4b47-b3d8-7c5fd73ede8f</vt:lpwstr>
  </property>
  <property fmtid="{D5CDD505-2E9C-101B-9397-08002B2CF9AE}" pid="8" name="MSIP_Label_cc6ed9fc-fefc-4a0c-a6d6-10cf236c0d4f_ContentBits">
    <vt:lpwstr>1</vt:lpwstr>
  </property>
  <property fmtid="{D5CDD505-2E9C-101B-9397-08002B2CF9AE}" pid="9" name="ClassificationContentMarkingHeaderLocations">
    <vt:lpwstr>Office 테마:8</vt:lpwstr>
  </property>
  <property fmtid="{D5CDD505-2E9C-101B-9397-08002B2CF9AE}" pid="10" name="ClassificationContentMarkingHeaderText">
    <vt:lpwstr>LGE Internal Use Only</vt:lpwstr>
  </property>
</Properties>
</file>